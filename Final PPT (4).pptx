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3.svg" ContentType="image/svg+xml"/>
  <Override PartName="/ppt/media/image16.svg" ContentType="image/svg+xml"/>
  <Override PartName="/ppt/media/image18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8.svg" ContentType="image/svg+xml"/>
  <Override PartName="/ppt/media/image31.svg" ContentType="image/svg+xml"/>
  <Override PartName="/ppt/media/image34.svg" ContentType="image/svg+xml"/>
  <Override PartName="/ppt/media/image37.svg" ContentType="image/svg+xml"/>
  <Override PartName="/ppt/media/image40.svg" ContentType="image/svg+xml"/>
  <Override PartName="/ppt/media/image46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2" r:id="rId8"/>
    <p:sldId id="264" r:id="rId9"/>
    <p:sldId id="265" r:id="rId10"/>
    <p:sldId id="266" r:id="rId11"/>
    <p:sldId id="267" r:id="rId12"/>
  </p:sldIdLst>
  <p:sldSz cx="18288000" cy="10287000"/>
  <p:notesSz cx="6858000" cy="9144000"/>
  <p:embeddedFontLst>
    <p:embeddedFont>
      <p:font typeface="Tahoma" panose="020B0604030504040204"/>
      <p:regular r:id="rId16"/>
      <p:bold r:id="rId17"/>
    </p:embeddedFont>
    <p:embeddedFont>
      <p:font typeface="Roboto" panose="02000000000000000000"/>
      <p:regular r:id="rId18"/>
    </p:embeddedFont>
    <p:embeddedFont>
      <p:font typeface="Ebrima" panose="02000000000000000000" charset="0"/>
      <p:regular r:id="rId19"/>
      <p:bold r:id="rId20"/>
    </p:embeddedFont>
    <p:embeddedFont>
      <p:font typeface="Tomorrow"/>
      <p:regular r:id="rId21"/>
    </p:embeddedFont>
    <p:embeddedFont>
      <p:font typeface="Abril Fatface" panose="02000503000000020003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font" Target="fonts/font11.fntdata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svg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2.png"/><Relationship Id="rId15" Type="http://schemas.openxmlformats.org/officeDocument/2006/relationships/image" Target="../media/image40.svg"/><Relationship Id="rId14" Type="http://schemas.openxmlformats.org/officeDocument/2006/relationships/image" Target="../media/image39.png"/><Relationship Id="rId13" Type="http://schemas.openxmlformats.org/officeDocument/2006/relationships/image" Target="../media/image38.png"/><Relationship Id="rId12" Type="http://schemas.openxmlformats.org/officeDocument/2006/relationships/image" Target="../media/image37.svg"/><Relationship Id="rId11" Type="http://schemas.openxmlformats.org/officeDocument/2006/relationships/image" Target="../media/image36.png"/><Relationship Id="rId10" Type="http://schemas.openxmlformats.org/officeDocument/2006/relationships/image" Target="../media/image35.png"/><Relationship Id="rId1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1524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292B32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1524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92C31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11430000" y="1524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15328392" y="9481718"/>
            <a:ext cx="2807208" cy="670560"/>
            <a:chOff x="0" y="0"/>
            <a:chExt cx="3742944" cy="8940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42944" cy="894080"/>
            </a:xfrm>
            <a:custGeom>
              <a:avLst/>
              <a:gdLst/>
              <a:ahLst/>
              <a:cxnLst/>
              <a:rect l="l" t="t" r="r" b="b"/>
              <a:pathLst>
                <a:path w="3742944" h="894080">
                  <a:moveTo>
                    <a:pt x="0" y="0"/>
                  </a:moveTo>
                  <a:lnTo>
                    <a:pt x="3742944" y="0"/>
                  </a:lnTo>
                  <a:lnTo>
                    <a:pt x="3742944" y="894080"/>
                  </a:lnTo>
                  <a:lnTo>
                    <a:pt x="0" y="894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11399520" y="9329318"/>
            <a:ext cx="6888480" cy="955043"/>
            <a:chOff x="0" y="0"/>
            <a:chExt cx="9184640" cy="12733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84640" cy="1273429"/>
            </a:xfrm>
            <a:custGeom>
              <a:avLst/>
              <a:gdLst/>
              <a:ahLst/>
              <a:cxnLst/>
              <a:rect l="l" t="t" r="r" b="b"/>
              <a:pathLst>
                <a:path w="9184640" h="1273429">
                  <a:moveTo>
                    <a:pt x="9184640" y="0"/>
                  </a:moveTo>
                  <a:lnTo>
                    <a:pt x="0" y="0"/>
                  </a:lnTo>
                  <a:lnTo>
                    <a:pt x="0" y="1273429"/>
                  </a:lnTo>
                  <a:lnTo>
                    <a:pt x="9184640" y="1273429"/>
                  </a:lnTo>
                  <a:lnTo>
                    <a:pt x="9184640" y="0"/>
                  </a:lnTo>
                  <a:close/>
                </a:path>
              </a:pathLst>
            </a:custGeom>
            <a:solidFill>
              <a:srgbClr val="BD7B89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752875" y="1114425"/>
            <a:ext cx="9640788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5"/>
              </a:lnSpc>
            </a:pPr>
            <a:r>
              <a:rPr lang="en-US" sz="5720" spc="182">
                <a:solidFill>
                  <a:srgbClr val="F3F3F2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Functions in C Programming</a:t>
            </a:r>
            <a:endParaRPr lang="en-US" sz="5720" spc="182">
              <a:solidFill>
                <a:srgbClr val="F3F3F2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62400" y="2154434"/>
            <a:ext cx="6699548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5"/>
              </a:lnSpc>
            </a:pPr>
            <a:r>
              <a:rPr lang="en-US" sz="4640" spc="-82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Reusability And Modularity</a:t>
            </a:r>
            <a:endParaRPr lang="en-US" sz="4640" spc="-82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43375" y="4452257"/>
            <a:ext cx="7258354" cy="362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5"/>
              </a:lnSpc>
            </a:pPr>
            <a:r>
              <a:rPr lang="en-US" sz="3210" spc="86">
                <a:solidFill>
                  <a:srgbClr val="FFFFFF"/>
                </a:solidFill>
                <a:latin typeface="Codec Pro" panose="00000500000000000000"/>
                <a:ea typeface="Codec Pro" panose="00000500000000000000"/>
                <a:cs typeface="Codec Pro" panose="00000500000000000000"/>
                <a:sym typeface="Codec Pro" panose="00000500000000000000"/>
              </a:rPr>
              <a:t>By:-</a:t>
            </a:r>
            <a:endParaRPr lang="en-US" sz="3210" spc="86">
              <a:solidFill>
                <a:srgbClr val="FFFFFF"/>
              </a:solidFill>
              <a:latin typeface="Codec Pro" panose="00000500000000000000"/>
              <a:ea typeface="Codec Pro" panose="00000500000000000000"/>
              <a:cs typeface="Codec Pro" panose="00000500000000000000"/>
              <a:sym typeface="Codec Pro" panose="00000500000000000000"/>
            </a:endParaRPr>
          </a:p>
          <a:p>
            <a:pPr marL="692785" lvl="1" indent="-346075" algn="l">
              <a:lnSpc>
                <a:spcPts val="4715"/>
              </a:lnSpc>
              <a:buFont typeface="Arial" panose="020B0604020202020204"/>
              <a:buChar char="•"/>
            </a:pPr>
            <a:r>
              <a:rPr lang="en-US" sz="3210" spc="86">
                <a:solidFill>
                  <a:srgbClr val="FFFFFF"/>
                </a:solidFill>
                <a:latin typeface="Ebrima" panose="02000000000000000000" charset="0"/>
                <a:ea typeface="Codec Pro" panose="00000500000000000000"/>
                <a:cs typeface="Ebrima" panose="02000000000000000000" charset="0"/>
                <a:sym typeface="Codec Pro" panose="00000500000000000000"/>
              </a:rPr>
              <a:t>Amith Bharadwaj - 1262251468</a:t>
            </a:r>
            <a:endParaRPr lang="en-US" sz="3210" spc="86">
              <a:solidFill>
                <a:srgbClr val="FFFFFF"/>
              </a:solidFill>
              <a:latin typeface="Ebrima" panose="02000000000000000000" charset="0"/>
              <a:ea typeface="Codec Pro" panose="00000500000000000000"/>
              <a:cs typeface="Ebrima" panose="02000000000000000000" charset="0"/>
              <a:sym typeface="Codec Pro" panose="00000500000000000000"/>
            </a:endParaRPr>
          </a:p>
          <a:p>
            <a:pPr marL="692785" lvl="1" indent="-346075" algn="l">
              <a:lnSpc>
                <a:spcPts val="4715"/>
              </a:lnSpc>
              <a:buFont typeface="Arial" panose="020B0604020202020204"/>
              <a:buChar char="•"/>
            </a:pPr>
            <a:r>
              <a:rPr lang="en-US" sz="3210" spc="86">
                <a:solidFill>
                  <a:srgbClr val="FFFFFF"/>
                </a:solidFill>
                <a:latin typeface="Ebrima" panose="02000000000000000000" charset="0"/>
                <a:ea typeface="Codec Pro" panose="00000500000000000000"/>
                <a:cs typeface="Ebrima" panose="02000000000000000000" charset="0"/>
                <a:sym typeface="Codec Pro" panose="00000500000000000000"/>
              </a:rPr>
              <a:t>Arnav Nair - 1262253761</a:t>
            </a:r>
            <a:endParaRPr lang="en-US" sz="3210" spc="86">
              <a:solidFill>
                <a:srgbClr val="FFFFFF"/>
              </a:solidFill>
              <a:latin typeface="Ebrima" panose="02000000000000000000" charset="0"/>
              <a:ea typeface="Codec Pro" panose="00000500000000000000"/>
              <a:cs typeface="Ebrima" panose="02000000000000000000" charset="0"/>
              <a:sym typeface="Codec Pro" panose="00000500000000000000"/>
            </a:endParaRPr>
          </a:p>
          <a:p>
            <a:pPr marL="692785" lvl="1" indent="-346075" algn="l">
              <a:lnSpc>
                <a:spcPts val="4715"/>
              </a:lnSpc>
              <a:buFont typeface="Arial" panose="020B0604020202020204"/>
              <a:buChar char="•"/>
            </a:pPr>
            <a:r>
              <a:rPr lang="en-US" sz="3210" spc="86">
                <a:solidFill>
                  <a:srgbClr val="FFFFFF"/>
                </a:solidFill>
                <a:latin typeface="Ebrima" panose="02000000000000000000" charset="0"/>
                <a:ea typeface="Codec Pro" panose="00000500000000000000"/>
                <a:cs typeface="Ebrima" panose="02000000000000000000" charset="0"/>
                <a:sym typeface="Codec Pro" panose="00000500000000000000"/>
              </a:rPr>
              <a:t>Om Sahu - 1262253918</a:t>
            </a:r>
            <a:endParaRPr lang="en-US" sz="3210" spc="86">
              <a:solidFill>
                <a:srgbClr val="FFFFFF"/>
              </a:solidFill>
              <a:latin typeface="Ebrima" panose="02000000000000000000" charset="0"/>
              <a:ea typeface="Codec Pro" panose="00000500000000000000"/>
              <a:cs typeface="Ebrima" panose="02000000000000000000" charset="0"/>
              <a:sym typeface="Codec Pro" panose="00000500000000000000"/>
            </a:endParaRPr>
          </a:p>
          <a:p>
            <a:pPr marL="692785" lvl="1" indent="-346075" algn="l">
              <a:lnSpc>
                <a:spcPts val="4715"/>
              </a:lnSpc>
              <a:buFont typeface="Arial" panose="020B0604020202020204"/>
              <a:buChar char="•"/>
            </a:pPr>
            <a:r>
              <a:rPr lang="en-US" sz="3210" spc="88">
                <a:solidFill>
                  <a:srgbClr val="FFFFFF"/>
                </a:solidFill>
                <a:latin typeface="Ebrima" panose="02000000000000000000" charset="0"/>
                <a:ea typeface="Codec Pro" panose="00000500000000000000"/>
                <a:cs typeface="Ebrima" panose="02000000000000000000" charset="0"/>
                <a:sym typeface="Codec Pro" panose="00000500000000000000"/>
              </a:rPr>
              <a:t>Kamran Takey - 1262252750</a:t>
            </a:r>
            <a:endParaRPr lang="en-US" sz="3210" spc="88">
              <a:solidFill>
                <a:srgbClr val="FFFFFF"/>
              </a:solidFill>
              <a:latin typeface="Ebrima" panose="02000000000000000000" charset="0"/>
              <a:ea typeface="Codec Pro" panose="00000500000000000000"/>
              <a:cs typeface="Ebrima" panose="02000000000000000000" charset="0"/>
              <a:sym typeface="Codec Pro" panose="00000500000000000000"/>
            </a:endParaRPr>
          </a:p>
          <a:p>
            <a:pPr marL="692785" lvl="1" indent="-346075" algn="l">
              <a:lnSpc>
                <a:spcPts val="4715"/>
              </a:lnSpc>
              <a:buFont typeface="Arial" panose="020B0604020202020204"/>
              <a:buChar char="•"/>
            </a:pPr>
            <a:r>
              <a:rPr lang="en-US" sz="3210" spc="88">
                <a:solidFill>
                  <a:srgbClr val="FFFFFF"/>
                </a:solidFill>
                <a:latin typeface="Ebrima" panose="02000000000000000000" charset="0"/>
                <a:ea typeface="Codec Pro" panose="00000500000000000000"/>
                <a:cs typeface="Ebrima" panose="02000000000000000000" charset="0"/>
                <a:sym typeface="Codec Pro" panose="00000500000000000000"/>
              </a:rPr>
              <a:t>Havish Kotiya - </a:t>
            </a:r>
            <a:r>
              <a:rPr lang="en-US" altLang="en-US" sz="3210" spc="88">
                <a:solidFill>
                  <a:srgbClr val="FFFFFF"/>
                </a:solidFill>
                <a:latin typeface="Ebrima" panose="02000000000000000000" charset="0"/>
                <a:ea typeface="Codec Pro" panose="00000500000000000000"/>
                <a:cs typeface="Ebrima" panose="02000000000000000000" charset="0"/>
                <a:sym typeface="Codec Pro" panose="00000500000000000000"/>
              </a:rPr>
              <a:t>1262252427</a:t>
            </a:r>
            <a:endParaRPr lang="en-US" altLang="en-US" sz="3210" spc="88">
              <a:solidFill>
                <a:srgbClr val="FFFFFF"/>
              </a:solidFill>
              <a:latin typeface="Ebrima" panose="02000000000000000000" charset="0"/>
              <a:ea typeface="Codec Pro" panose="00000500000000000000"/>
              <a:cs typeface="Ebrima" panose="02000000000000000000" charset="0"/>
              <a:sym typeface="Codec Pro" panose="000005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95375" y="8483913"/>
            <a:ext cx="7427504" cy="38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000" spc="642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Under guidance of Dr. Uma Pujari</a:t>
            </a:r>
            <a:endParaRPr lang="en-US" sz="2000" spc="642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1524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92C31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15240"/>
            <a:ext cx="18288000" cy="3185160"/>
            <a:chOff x="0" y="0"/>
            <a:chExt cx="24384000" cy="42468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4246880"/>
            </a:xfrm>
            <a:custGeom>
              <a:avLst/>
              <a:gdLst/>
              <a:ahLst/>
              <a:cxnLst/>
              <a:rect l="l" t="t" r="r" b="b"/>
              <a:pathLst>
                <a:path w="24384000" h="4246880">
                  <a:moveTo>
                    <a:pt x="0" y="0"/>
                  </a:moveTo>
                  <a:lnTo>
                    <a:pt x="24384000" y="0"/>
                  </a:lnTo>
                  <a:lnTo>
                    <a:pt x="24384000" y="4246880"/>
                  </a:lnTo>
                  <a:lnTo>
                    <a:pt x="0" y="424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239" b="-23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729615" y="3895976"/>
            <a:ext cx="6967728" cy="788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50"/>
              </a:lnSpc>
            </a:pPr>
            <a:r>
              <a:rPr lang="en-US" sz="4960" spc="151">
                <a:solidFill>
                  <a:srgbClr val="F3F3F2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What is a Function in C?</a:t>
            </a:r>
            <a:endParaRPr lang="en-US" sz="4960" spc="151">
              <a:solidFill>
                <a:srgbClr val="F3F3F2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1036320" y="7193280"/>
            <a:ext cx="76200" cy="76200"/>
            <a:chOff x="0" y="0"/>
            <a:chExt cx="101600" cy="101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7531" y="0"/>
                  </a:moveTo>
                  <a:lnTo>
                    <a:pt x="44069" y="0"/>
                  </a:lnTo>
                  <a:lnTo>
                    <a:pt x="37592" y="1270"/>
                  </a:lnTo>
                  <a:lnTo>
                    <a:pt x="0" y="44069"/>
                  </a:lnTo>
                  <a:lnTo>
                    <a:pt x="0" y="57531"/>
                  </a:lnTo>
                  <a:lnTo>
                    <a:pt x="44069" y="101600"/>
                  </a:lnTo>
                  <a:lnTo>
                    <a:pt x="57531" y="101600"/>
                  </a:lnTo>
                  <a:lnTo>
                    <a:pt x="101600" y="57531"/>
                  </a:lnTo>
                  <a:lnTo>
                    <a:pt x="101600" y="50800"/>
                  </a:lnTo>
                  <a:lnTo>
                    <a:pt x="101600" y="44069"/>
                  </a:lnTo>
                  <a:lnTo>
                    <a:pt x="64008" y="1270"/>
                  </a:lnTo>
                  <a:lnTo>
                    <a:pt x="57531" y="0"/>
                  </a:lnTo>
                  <a:close/>
                </a:path>
              </a:pathLst>
            </a:custGeom>
            <a:solidFill>
              <a:srgbClr val="D4D4D1"/>
            </a:solidFill>
          </p:spPr>
        </p:sp>
      </p:grpSp>
      <p:grpSp>
        <p:nvGrpSpPr>
          <p:cNvPr id="9" name="Group 9"/>
          <p:cNvGrpSpPr/>
          <p:nvPr/>
        </p:nvGrpSpPr>
        <p:grpSpPr>
          <a:xfrm rot="0">
            <a:off x="1036320" y="7665720"/>
            <a:ext cx="76200" cy="76200"/>
            <a:chOff x="0" y="0"/>
            <a:chExt cx="101600" cy="101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7531" y="0"/>
                  </a:moveTo>
                  <a:lnTo>
                    <a:pt x="44069" y="0"/>
                  </a:lnTo>
                  <a:lnTo>
                    <a:pt x="37592" y="1270"/>
                  </a:lnTo>
                  <a:lnTo>
                    <a:pt x="0" y="44069"/>
                  </a:lnTo>
                  <a:lnTo>
                    <a:pt x="0" y="57531"/>
                  </a:lnTo>
                  <a:lnTo>
                    <a:pt x="44069" y="101600"/>
                  </a:lnTo>
                  <a:lnTo>
                    <a:pt x="57531" y="101600"/>
                  </a:lnTo>
                  <a:lnTo>
                    <a:pt x="101600" y="57531"/>
                  </a:lnTo>
                  <a:lnTo>
                    <a:pt x="101600" y="50800"/>
                  </a:lnTo>
                  <a:lnTo>
                    <a:pt x="101600" y="44069"/>
                  </a:lnTo>
                  <a:lnTo>
                    <a:pt x="64008" y="1270"/>
                  </a:lnTo>
                  <a:lnTo>
                    <a:pt x="57531" y="0"/>
                  </a:lnTo>
                  <a:close/>
                </a:path>
              </a:pathLst>
            </a:custGeom>
            <a:solidFill>
              <a:srgbClr val="D4D4D1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1036320" y="8138160"/>
            <a:ext cx="76200" cy="76200"/>
            <a:chOff x="0" y="0"/>
            <a:chExt cx="101600" cy="101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7531" y="0"/>
                  </a:moveTo>
                  <a:lnTo>
                    <a:pt x="44069" y="0"/>
                  </a:lnTo>
                  <a:lnTo>
                    <a:pt x="37592" y="1270"/>
                  </a:lnTo>
                  <a:lnTo>
                    <a:pt x="0" y="44069"/>
                  </a:lnTo>
                  <a:lnTo>
                    <a:pt x="0" y="57531"/>
                  </a:lnTo>
                  <a:lnTo>
                    <a:pt x="44069" y="101600"/>
                  </a:lnTo>
                  <a:lnTo>
                    <a:pt x="57531" y="101600"/>
                  </a:lnTo>
                  <a:lnTo>
                    <a:pt x="101600" y="57531"/>
                  </a:lnTo>
                  <a:lnTo>
                    <a:pt x="101600" y="50800"/>
                  </a:lnTo>
                  <a:lnTo>
                    <a:pt x="101600" y="44069"/>
                  </a:lnTo>
                  <a:lnTo>
                    <a:pt x="64008" y="1270"/>
                  </a:lnTo>
                  <a:lnTo>
                    <a:pt x="57531" y="0"/>
                  </a:lnTo>
                  <a:close/>
                </a:path>
              </a:pathLst>
            </a:custGeom>
            <a:solidFill>
              <a:srgbClr val="D4D4D1"/>
            </a:solidFill>
          </p:spPr>
        </p:sp>
      </p:grpSp>
      <p:grpSp>
        <p:nvGrpSpPr>
          <p:cNvPr id="13" name="Group 13"/>
          <p:cNvGrpSpPr/>
          <p:nvPr/>
        </p:nvGrpSpPr>
        <p:grpSpPr>
          <a:xfrm rot="0">
            <a:off x="1036320" y="8595360"/>
            <a:ext cx="76200" cy="76200"/>
            <a:chOff x="0" y="0"/>
            <a:chExt cx="101600" cy="101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7531" y="0"/>
                  </a:moveTo>
                  <a:lnTo>
                    <a:pt x="44069" y="0"/>
                  </a:lnTo>
                  <a:lnTo>
                    <a:pt x="37592" y="1270"/>
                  </a:lnTo>
                  <a:lnTo>
                    <a:pt x="0" y="44069"/>
                  </a:lnTo>
                  <a:lnTo>
                    <a:pt x="0" y="57531"/>
                  </a:lnTo>
                  <a:lnTo>
                    <a:pt x="44069" y="101600"/>
                  </a:lnTo>
                  <a:lnTo>
                    <a:pt x="57531" y="101600"/>
                  </a:lnTo>
                  <a:lnTo>
                    <a:pt x="101600" y="57531"/>
                  </a:lnTo>
                  <a:lnTo>
                    <a:pt x="101600" y="50800"/>
                  </a:lnTo>
                  <a:lnTo>
                    <a:pt x="101600" y="44069"/>
                  </a:lnTo>
                  <a:lnTo>
                    <a:pt x="64008" y="1270"/>
                  </a:lnTo>
                  <a:lnTo>
                    <a:pt x="57531" y="0"/>
                  </a:lnTo>
                  <a:close/>
                </a:path>
              </a:pathLst>
            </a:custGeom>
            <a:solidFill>
              <a:srgbClr val="D4D4D1"/>
            </a:solidFill>
          </p:spPr>
        </p:sp>
      </p:grpSp>
      <p:grpSp>
        <p:nvGrpSpPr>
          <p:cNvPr id="15" name="Group 15"/>
          <p:cNvGrpSpPr/>
          <p:nvPr/>
        </p:nvGrpSpPr>
        <p:grpSpPr>
          <a:xfrm rot="0">
            <a:off x="1036320" y="9067800"/>
            <a:ext cx="76200" cy="76200"/>
            <a:chOff x="0" y="0"/>
            <a:chExt cx="101600" cy="101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7531" y="0"/>
                  </a:moveTo>
                  <a:lnTo>
                    <a:pt x="44069" y="0"/>
                  </a:lnTo>
                  <a:lnTo>
                    <a:pt x="37592" y="1270"/>
                  </a:lnTo>
                  <a:lnTo>
                    <a:pt x="0" y="44069"/>
                  </a:lnTo>
                  <a:lnTo>
                    <a:pt x="0" y="57531"/>
                  </a:lnTo>
                  <a:lnTo>
                    <a:pt x="44069" y="101600"/>
                  </a:lnTo>
                  <a:lnTo>
                    <a:pt x="57531" y="101600"/>
                  </a:lnTo>
                  <a:lnTo>
                    <a:pt x="101600" y="57531"/>
                  </a:lnTo>
                  <a:lnTo>
                    <a:pt x="101600" y="50800"/>
                  </a:lnTo>
                  <a:lnTo>
                    <a:pt x="101600" y="44069"/>
                  </a:lnTo>
                  <a:lnTo>
                    <a:pt x="64008" y="1270"/>
                  </a:lnTo>
                  <a:lnTo>
                    <a:pt x="57531" y="0"/>
                  </a:lnTo>
                  <a:close/>
                </a:path>
              </a:pathLst>
            </a:custGeom>
            <a:solidFill>
              <a:srgbClr val="D4D4D1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805815" y="5037328"/>
            <a:ext cx="15916656" cy="4220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16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 function is a self-contained block of code designed to perform a specific task. Think of it as a mini-program within your larger program that can be called whenever you need its functionality.</a:t>
            </a:r>
            <a:endParaRPr lang="en-US" sz="2000" spc="-16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5000"/>
              </a:lnSpc>
            </a:pPr>
            <a:r>
              <a:rPr lang="en-US" sz="2000" spc="-16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Functions are the fundamental building blocks of structured programming, offering several critical advantages: Break </a:t>
            </a:r>
            <a:endParaRPr lang="en-US" sz="2000" spc="-16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31800" lvl="1" indent="-215900" algn="l">
              <a:lnSpc>
                <a:spcPts val="5000"/>
              </a:lnSpc>
              <a:buFont typeface="Arial" panose="020B0604020202020204"/>
              <a:buChar char="•"/>
            </a:pPr>
            <a:r>
              <a:rPr lang="en-US" sz="2000" spc="-16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complex problems into manageable, logical pieces</a:t>
            </a:r>
            <a:endParaRPr lang="en-US" sz="2000" spc="-16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31800" lvl="1" indent="-215900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2000" spc="-16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Dramatically improve code readability and organization </a:t>
            </a:r>
            <a:endParaRPr lang="en-US" sz="2000" spc="-16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31800" lvl="1" indent="-215900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2000" spc="-16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Enable code reuse across your entire project</a:t>
            </a:r>
            <a:endParaRPr lang="en-US" sz="2000" spc="-16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31800" lvl="1" indent="-215900" algn="l">
              <a:lnSpc>
                <a:spcPts val="3725"/>
              </a:lnSpc>
              <a:buFont typeface="Arial" panose="020B0604020202020204"/>
              <a:buChar char="•"/>
            </a:pPr>
            <a:r>
              <a:rPr lang="en-US" sz="2000" spc="-16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Simplify debugging by isolating specific behaviors </a:t>
            </a:r>
            <a:endParaRPr lang="en-US" sz="2000" spc="-16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31800" lvl="1" indent="-215900" algn="l">
              <a:lnSpc>
                <a:spcPts val="3730"/>
              </a:lnSpc>
              <a:buFont typeface="Arial" panose="020B0604020202020204"/>
              <a:buChar char="•"/>
            </a:pPr>
            <a:r>
              <a:rPr lang="en-US" sz="2000" spc="-16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Make testing more straightforward and reliable</a:t>
            </a:r>
            <a:endParaRPr lang="en-US" sz="2000" spc="-16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8" name="Group 18"/>
          <p:cNvGrpSpPr/>
          <p:nvPr/>
        </p:nvGrpSpPr>
        <p:grpSpPr>
          <a:xfrm rot="0">
            <a:off x="15328392" y="9481718"/>
            <a:ext cx="2807208" cy="670560"/>
            <a:chOff x="0" y="0"/>
            <a:chExt cx="3742944" cy="8940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742944" cy="894080"/>
            </a:xfrm>
            <a:custGeom>
              <a:avLst/>
              <a:gdLst/>
              <a:ahLst/>
              <a:cxnLst/>
              <a:rect l="l" t="t" r="r" b="b"/>
              <a:pathLst>
                <a:path w="3742944" h="894080">
                  <a:moveTo>
                    <a:pt x="0" y="0"/>
                  </a:moveTo>
                  <a:lnTo>
                    <a:pt x="3742944" y="0"/>
                  </a:lnTo>
                  <a:lnTo>
                    <a:pt x="3742944" y="894080"/>
                  </a:lnTo>
                  <a:lnTo>
                    <a:pt x="0" y="894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15341594" y="9532515"/>
            <a:ext cx="2824477" cy="650243"/>
            <a:chOff x="0" y="0"/>
            <a:chExt cx="3765969" cy="8669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65931" cy="867029"/>
            </a:xfrm>
            <a:custGeom>
              <a:avLst/>
              <a:gdLst/>
              <a:ahLst/>
              <a:cxnLst/>
              <a:rect l="l" t="t" r="r" b="b"/>
              <a:pathLst>
                <a:path w="3765931" h="867029">
                  <a:moveTo>
                    <a:pt x="3765931" y="0"/>
                  </a:moveTo>
                  <a:lnTo>
                    <a:pt x="0" y="0"/>
                  </a:lnTo>
                  <a:lnTo>
                    <a:pt x="0" y="867029"/>
                  </a:lnTo>
                  <a:lnTo>
                    <a:pt x="3765931" y="867029"/>
                  </a:lnTo>
                  <a:lnTo>
                    <a:pt x="3765931" y="0"/>
                  </a:lnTo>
                  <a:close/>
                </a:path>
              </a:pathLst>
            </a:custGeom>
            <a:solidFill>
              <a:srgbClr val="282B31"/>
            </a:solid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1524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92C31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71950" y="1467336"/>
            <a:ext cx="6550152" cy="8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520" spc="152">
                <a:solidFill>
                  <a:srgbClr val="F3F3F2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Why Use Functions?</a:t>
            </a:r>
            <a:endParaRPr lang="en-US" sz="5520" spc="152">
              <a:solidFill>
                <a:srgbClr val="F3F3F2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990600" y="2926080"/>
            <a:ext cx="2209800" cy="2209800"/>
            <a:chOff x="0" y="0"/>
            <a:chExt cx="2946400" cy="294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46400" cy="2946400"/>
            </a:xfrm>
            <a:custGeom>
              <a:avLst/>
              <a:gdLst/>
              <a:ahLst/>
              <a:cxnLst/>
              <a:rect l="l" t="t" r="r" b="b"/>
              <a:pathLst>
                <a:path w="2946400" h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2946400"/>
                  </a:lnTo>
                  <a:lnTo>
                    <a:pt x="0" y="294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971950" y="5473703"/>
            <a:ext cx="3357877" cy="3275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-16">
                <a:solidFill>
                  <a:srgbClr val="D4D4D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Avoid Repetition</a:t>
            </a:r>
            <a:endParaRPr lang="en-US" sz="2800" spc="-16">
              <a:solidFill>
                <a:srgbClr val="D4D4D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550"/>
              </a:lnSpc>
            </a:pPr>
            <a:r>
              <a:rPr lang="en-US" sz="2240" spc="-40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Write code once and call it multiple times instead of duplicating the same lines throughout your program. This reduces errors and maintenance burden.</a:t>
            </a:r>
            <a:endParaRPr lang="en-US" sz="2240" spc="-40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5151120" y="2926080"/>
            <a:ext cx="2209800" cy="2209800"/>
            <a:chOff x="0" y="0"/>
            <a:chExt cx="2946400" cy="294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46400" cy="2946400"/>
            </a:xfrm>
            <a:custGeom>
              <a:avLst/>
              <a:gdLst/>
              <a:ahLst/>
              <a:cxnLst/>
              <a:rect l="l" t="t" r="r" b="b"/>
              <a:pathLst>
                <a:path w="2946400" h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2946400"/>
                  </a:lnTo>
                  <a:lnTo>
                    <a:pt x="0" y="294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136290" y="5473703"/>
            <a:ext cx="3784597" cy="2833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-16">
                <a:solidFill>
                  <a:srgbClr val="D4D4D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Logical Organization</a:t>
            </a:r>
            <a:endParaRPr lang="en-US" sz="2800" spc="-16">
              <a:solidFill>
                <a:srgbClr val="D4D4D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570"/>
              </a:lnSpc>
            </a:pPr>
            <a:r>
              <a:rPr lang="en-US" sz="2240" spc="-16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Group related code together, making your program structure clear and intuitive to understand for anyone reading it.</a:t>
            </a:r>
            <a:endParaRPr lang="en-US" sz="2240" spc="-16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9326880" y="2926080"/>
            <a:ext cx="2209800" cy="2209800"/>
            <a:chOff x="0" y="0"/>
            <a:chExt cx="2946400" cy="294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46400" cy="2946400"/>
            </a:xfrm>
            <a:custGeom>
              <a:avLst/>
              <a:gdLst/>
              <a:ahLst/>
              <a:cxnLst/>
              <a:rect l="l" t="t" r="r" b="b"/>
              <a:pathLst>
                <a:path w="2946400" h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2946400"/>
                  </a:lnTo>
                  <a:lnTo>
                    <a:pt x="0" y="294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300848" y="5473703"/>
            <a:ext cx="3611880" cy="2833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-16">
                <a:solidFill>
                  <a:srgbClr val="D4D4D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Easier Maintenance</a:t>
            </a:r>
            <a:endParaRPr lang="en-US" sz="2800" spc="-16">
              <a:solidFill>
                <a:srgbClr val="D4D4D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570"/>
              </a:lnSpc>
            </a:pPr>
            <a:r>
              <a:rPr lang="en-US" sz="2240" spc="-40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Update functionality in one central place rather than hunting through hundreds of lines to make the same change repeatedly.</a:t>
            </a:r>
            <a:endParaRPr lang="en-US" sz="2240" spc="-40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13487400" y="2926080"/>
            <a:ext cx="2209800" cy="2209800"/>
            <a:chOff x="0" y="0"/>
            <a:chExt cx="2946400" cy="294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946400" cy="2946400"/>
            </a:xfrm>
            <a:custGeom>
              <a:avLst/>
              <a:gdLst/>
              <a:ahLst/>
              <a:cxnLst/>
              <a:rect l="l" t="t" r="r" b="b"/>
              <a:pathLst>
                <a:path w="2946400" h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2946400"/>
                  </a:lnTo>
                  <a:lnTo>
                    <a:pt x="0" y="294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3465169" y="5473703"/>
            <a:ext cx="3793741" cy="2833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-16">
                <a:solidFill>
                  <a:srgbClr val="D4D4D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Enhanced Readability</a:t>
            </a:r>
            <a:endParaRPr lang="en-US" sz="2800" spc="-16">
              <a:solidFill>
                <a:srgbClr val="D4D4D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570"/>
              </a:lnSpc>
            </a:pPr>
            <a:r>
              <a:rPr lang="en-US" sz="2240" spc="-16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Well-named functions make code self-documenting, helping others and future you understand exactly what each part does at a glance.</a:t>
            </a:r>
            <a:endParaRPr lang="en-US" sz="2240" spc="-16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7" name="Group 17"/>
          <p:cNvGrpSpPr/>
          <p:nvPr/>
        </p:nvGrpSpPr>
        <p:grpSpPr>
          <a:xfrm rot="0">
            <a:off x="15328392" y="9481718"/>
            <a:ext cx="2807208" cy="670560"/>
            <a:chOff x="0" y="0"/>
            <a:chExt cx="3742944" cy="8940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42944" cy="894080"/>
            </a:xfrm>
            <a:custGeom>
              <a:avLst/>
              <a:gdLst/>
              <a:ahLst/>
              <a:cxnLst/>
              <a:rect l="l" t="t" r="r" b="b"/>
              <a:pathLst>
                <a:path w="3742944" h="894080">
                  <a:moveTo>
                    <a:pt x="0" y="0"/>
                  </a:moveTo>
                  <a:lnTo>
                    <a:pt x="3742944" y="0"/>
                  </a:lnTo>
                  <a:lnTo>
                    <a:pt x="3742944" y="894080"/>
                  </a:lnTo>
                  <a:lnTo>
                    <a:pt x="0" y="894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 rot="0">
            <a:off x="15341594" y="9532515"/>
            <a:ext cx="2824477" cy="650243"/>
            <a:chOff x="0" y="0"/>
            <a:chExt cx="3765969" cy="86699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5931" cy="867029"/>
            </a:xfrm>
            <a:custGeom>
              <a:avLst/>
              <a:gdLst/>
              <a:ahLst/>
              <a:cxnLst/>
              <a:rect l="l" t="t" r="r" b="b"/>
              <a:pathLst>
                <a:path w="3765931" h="867029">
                  <a:moveTo>
                    <a:pt x="3765931" y="0"/>
                  </a:moveTo>
                  <a:lnTo>
                    <a:pt x="0" y="0"/>
                  </a:lnTo>
                  <a:lnTo>
                    <a:pt x="0" y="867029"/>
                  </a:lnTo>
                  <a:lnTo>
                    <a:pt x="3765931" y="867029"/>
                  </a:lnTo>
                  <a:lnTo>
                    <a:pt x="3765931" y="0"/>
                  </a:lnTo>
                  <a:close/>
                </a:path>
              </a:pathLst>
            </a:custGeom>
            <a:solidFill>
              <a:srgbClr val="282B31"/>
            </a:solid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1524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292B32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72185" y="1741805"/>
            <a:ext cx="9076690" cy="848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520" spc="152">
                <a:solidFill>
                  <a:srgbClr val="F2F2F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Basic Syntax of a Function</a:t>
            </a:r>
            <a:endParaRPr lang="en-US" sz="5520" spc="152">
              <a:solidFill>
                <a:srgbClr val="F2F2F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990590" y="3200429"/>
            <a:ext cx="3870960" cy="4587240"/>
            <a:chOff x="0" y="0"/>
            <a:chExt cx="5161280" cy="61163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1280" cy="6116320"/>
            </a:xfrm>
            <a:custGeom>
              <a:avLst/>
              <a:gdLst/>
              <a:ahLst/>
              <a:cxnLst/>
              <a:rect l="l" t="t" r="r" b="b"/>
              <a:pathLst>
                <a:path w="5161280" h="6116320">
                  <a:moveTo>
                    <a:pt x="5120259" y="6116320"/>
                  </a:moveTo>
                  <a:lnTo>
                    <a:pt x="41021" y="6116320"/>
                  </a:lnTo>
                  <a:lnTo>
                    <a:pt x="35052" y="6115177"/>
                  </a:lnTo>
                  <a:lnTo>
                    <a:pt x="0" y="6075299"/>
                  </a:lnTo>
                  <a:lnTo>
                    <a:pt x="0" y="6069076"/>
                  </a:lnTo>
                  <a:lnTo>
                    <a:pt x="0" y="41021"/>
                  </a:lnTo>
                  <a:lnTo>
                    <a:pt x="41021" y="0"/>
                  </a:lnTo>
                  <a:lnTo>
                    <a:pt x="5120259" y="0"/>
                  </a:lnTo>
                  <a:lnTo>
                    <a:pt x="5161280" y="41021"/>
                  </a:lnTo>
                  <a:lnTo>
                    <a:pt x="5161280" y="6075299"/>
                  </a:lnTo>
                  <a:lnTo>
                    <a:pt x="5126355" y="6115050"/>
                  </a:lnTo>
                  <a:lnTo>
                    <a:pt x="5120386" y="6116193"/>
                  </a:lnTo>
                  <a:close/>
                </a:path>
              </a:pathLst>
            </a:custGeom>
            <a:solidFill>
              <a:srgbClr val="484A50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1280150" y="3489989"/>
            <a:ext cx="853440" cy="838200"/>
          </a:xfrm>
          <a:custGeom>
            <a:avLst/>
            <a:gdLst/>
            <a:ahLst/>
            <a:cxnLst/>
            <a:rect l="l" t="t" r="r" b="b"/>
            <a:pathLst>
              <a:path w="853440" h="838200">
                <a:moveTo>
                  <a:pt x="0" y="0"/>
                </a:moveTo>
                <a:lnTo>
                  <a:pt x="853440" y="0"/>
                </a:lnTo>
                <a:lnTo>
                  <a:pt x="85344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0">
            <a:off x="1513656" y="3710026"/>
            <a:ext cx="372856" cy="399736"/>
            <a:chOff x="0" y="0"/>
            <a:chExt cx="497142" cy="5329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7205" cy="533019"/>
            </a:xfrm>
            <a:custGeom>
              <a:avLst/>
              <a:gdLst/>
              <a:ahLst/>
              <a:cxnLst/>
              <a:rect l="l" t="t" r="r" b="b"/>
              <a:pathLst>
                <a:path w="497205" h="533019">
                  <a:moveTo>
                    <a:pt x="0" y="0"/>
                  </a:moveTo>
                  <a:lnTo>
                    <a:pt x="497205" y="0"/>
                  </a:lnTo>
                  <a:lnTo>
                    <a:pt x="497205" y="533019"/>
                  </a:lnTo>
                  <a:lnTo>
                    <a:pt x="0" y="533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10" r="-498" b="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1264910" y="6172200"/>
            <a:ext cx="365760" cy="381000"/>
            <a:chOff x="0" y="0"/>
            <a:chExt cx="487680" cy="508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7680" cy="508000"/>
            </a:xfrm>
            <a:custGeom>
              <a:avLst/>
              <a:gdLst/>
              <a:ahLst/>
              <a:cxnLst/>
              <a:rect l="l" t="t" r="r" b="b"/>
              <a:pathLst>
                <a:path w="487680" h="508000">
                  <a:moveTo>
                    <a:pt x="0" y="0"/>
                  </a:moveTo>
                  <a:lnTo>
                    <a:pt x="487680" y="0"/>
                  </a:lnTo>
                  <a:lnTo>
                    <a:pt x="48768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1737341" y="6172219"/>
            <a:ext cx="1310640" cy="382019"/>
            <a:chOff x="0" y="0"/>
            <a:chExt cx="1747520" cy="50935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33120" cy="508000"/>
            </a:xfrm>
            <a:custGeom>
              <a:avLst/>
              <a:gdLst/>
              <a:ahLst/>
              <a:cxnLst/>
              <a:rect l="l" t="t" r="r" b="b"/>
              <a:pathLst>
                <a:path w="833120" h="508000">
                  <a:moveTo>
                    <a:pt x="833120" y="41021"/>
                  </a:moveTo>
                  <a:lnTo>
                    <a:pt x="792099" y="0"/>
                  </a:lnTo>
                  <a:lnTo>
                    <a:pt x="41021" y="0"/>
                  </a:lnTo>
                  <a:lnTo>
                    <a:pt x="0" y="41021"/>
                  </a:lnTo>
                  <a:lnTo>
                    <a:pt x="0" y="460756"/>
                  </a:lnTo>
                  <a:lnTo>
                    <a:pt x="0" y="466979"/>
                  </a:lnTo>
                  <a:lnTo>
                    <a:pt x="41021" y="508000"/>
                  </a:lnTo>
                  <a:lnTo>
                    <a:pt x="792099" y="508000"/>
                  </a:lnTo>
                  <a:lnTo>
                    <a:pt x="833120" y="466979"/>
                  </a:lnTo>
                  <a:lnTo>
                    <a:pt x="833120" y="41021"/>
                  </a:lnTo>
                  <a:close/>
                </a:path>
              </a:pathLst>
            </a:custGeom>
            <a:solidFill>
              <a:srgbClr val="36383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955040" y="0"/>
              <a:ext cx="792480" cy="508000"/>
            </a:xfrm>
            <a:custGeom>
              <a:avLst/>
              <a:gdLst/>
              <a:ahLst/>
              <a:cxnLst/>
              <a:rect l="l" t="t" r="r" b="b"/>
              <a:pathLst>
                <a:path w="792480" h="508000">
                  <a:moveTo>
                    <a:pt x="792480" y="41021"/>
                  </a:moveTo>
                  <a:lnTo>
                    <a:pt x="751459" y="0"/>
                  </a:lnTo>
                  <a:lnTo>
                    <a:pt x="41021" y="0"/>
                  </a:lnTo>
                  <a:lnTo>
                    <a:pt x="0" y="41021"/>
                  </a:lnTo>
                  <a:lnTo>
                    <a:pt x="0" y="460756"/>
                  </a:lnTo>
                  <a:lnTo>
                    <a:pt x="0" y="466979"/>
                  </a:lnTo>
                  <a:lnTo>
                    <a:pt x="41021" y="508000"/>
                  </a:lnTo>
                  <a:lnTo>
                    <a:pt x="751459" y="508000"/>
                  </a:lnTo>
                  <a:lnTo>
                    <a:pt x="792480" y="466979"/>
                  </a:lnTo>
                  <a:lnTo>
                    <a:pt x="792480" y="41021"/>
                  </a:lnTo>
                  <a:close/>
                </a:path>
              </a:pathLst>
            </a:custGeom>
            <a:solidFill>
              <a:srgbClr val="36383F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255300" y="4605052"/>
            <a:ext cx="3315205" cy="2406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Return Type</a:t>
            </a:r>
            <a:endParaRPr lang="en-US" sz="2800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680"/>
              </a:lnSpc>
            </a:pPr>
            <a:r>
              <a:rPr lang="en-US" sz="2240" spc="-32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Specifies what type of value the function returns: int, float, void, or other data types.</a:t>
            </a:r>
            <a:endParaRPr lang="en-US" sz="2240" spc="-32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5135813" y="3200467"/>
            <a:ext cx="3870960" cy="4587240"/>
            <a:chOff x="0" y="0"/>
            <a:chExt cx="5161280" cy="61163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161280" cy="6116193"/>
            </a:xfrm>
            <a:custGeom>
              <a:avLst/>
              <a:gdLst/>
              <a:ahLst/>
              <a:cxnLst/>
              <a:rect l="l" t="t" r="r" b="b"/>
              <a:pathLst>
                <a:path w="5161280" h="6116193">
                  <a:moveTo>
                    <a:pt x="5120259" y="6116193"/>
                  </a:moveTo>
                  <a:lnTo>
                    <a:pt x="41021" y="6116193"/>
                  </a:lnTo>
                  <a:lnTo>
                    <a:pt x="35052" y="6115050"/>
                  </a:lnTo>
                  <a:lnTo>
                    <a:pt x="0" y="6075299"/>
                  </a:lnTo>
                  <a:lnTo>
                    <a:pt x="0" y="6069076"/>
                  </a:lnTo>
                  <a:lnTo>
                    <a:pt x="0" y="41021"/>
                  </a:lnTo>
                  <a:lnTo>
                    <a:pt x="41021" y="0"/>
                  </a:lnTo>
                  <a:lnTo>
                    <a:pt x="5120259" y="0"/>
                  </a:lnTo>
                  <a:lnTo>
                    <a:pt x="5161280" y="41021"/>
                  </a:lnTo>
                  <a:lnTo>
                    <a:pt x="5161280" y="6075299"/>
                  </a:lnTo>
                  <a:lnTo>
                    <a:pt x="5126355" y="6115050"/>
                  </a:lnTo>
                  <a:lnTo>
                    <a:pt x="5120386" y="6116193"/>
                  </a:lnTo>
                  <a:close/>
                </a:path>
              </a:pathLst>
            </a:custGeom>
            <a:solidFill>
              <a:srgbClr val="484A50"/>
            </a:solidFill>
          </p:spPr>
        </p:sp>
      </p:grpSp>
      <p:sp>
        <p:nvSpPr>
          <p:cNvPr id="18" name="Freeform 18"/>
          <p:cNvSpPr/>
          <p:nvPr/>
        </p:nvSpPr>
        <p:spPr>
          <a:xfrm>
            <a:off x="5425373" y="3490027"/>
            <a:ext cx="853440" cy="838200"/>
          </a:xfrm>
          <a:custGeom>
            <a:avLst/>
            <a:gdLst/>
            <a:ahLst/>
            <a:cxnLst/>
            <a:rect l="l" t="t" r="r" b="b"/>
            <a:pathLst>
              <a:path w="853440" h="838200">
                <a:moveTo>
                  <a:pt x="0" y="0"/>
                </a:moveTo>
                <a:lnTo>
                  <a:pt x="853440" y="0"/>
                </a:lnTo>
                <a:lnTo>
                  <a:pt x="85344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 rot="0">
            <a:off x="5645496" y="3713426"/>
            <a:ext cx="399926" cy="393144"/>
            <a:chOff x="0" y="0"/>
            <a:chExt cx="533235" cy="5241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3273" cy="524256"/>
            </a:xfrm>
            <a:custGeom>
              <a:avLst/>
              <a:gdLst/>
              <a:ahLst/>
              <a:cxnLst/>
              <a:rect l="l" t="t" r="r" b="b"/>
              <a:pathLst>
                <a:path w="533273" h="524256">
                  <a:moveTo>
                    <a:pt x="0" y="0"/>
                  </a:moveTo>
                  <a:lnTo>
                    <a:pt x="533273" y="0"/>
                  </a:lnTo>
                  <a:lnTo>
                    <a:pt x="533273" y="524256"/>
                  </a:lnTo>
                  <a:lnTo>
                    <a:pt x="0" y="524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862" r="7" b="-850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5401961" y="4605071"/>
            <a:ext cx="3032760" cy="2818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Function Name</a:t>
            </a:r>
            <a:endParaRPr lang="en-US" sz="2800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570"/>
              </a:lnSpc>
            </a:pPr>
            <a:r>
              <a:rPr lang="en-US" sz="2240" spc="-16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 descriptive identifier following C naming conventions that clearly indicates the function's purpose.</a:t>
            </a:r>
            <a:endParaRPr lang="en-US" sz="2240" spc="-16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9281027" y="3200476"/>
            <a:ext cx="3870960" cy="4587240"/>
          </a:xfrm>
          <a:custGeom>
            <a:avLst/>
            <a:gdLst/>
            <a:ahLst/>
            <a:cxnLst/>
            <a:rect l="l" t="t" r="r" b="b"/>
            <a:pathLst>
              <a:path w="3870960" h="4587240">
                <a:moveTo>
                  <a:pt x="0" y="0"/>
                </a:moveTo>
                <a:lnTo>
                  <a:pt x="3870960" y="0"/>
                </a:lnTo>
                <a:lnTo>
                  <a:pt x="3870960" y="4587240"/>
                </a:lnTo>
                <a:lnTo>
                  <a:pt x="0" y="45872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9548603" y="4605080"/>
            <a:ext cx="3247139" cy="2818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56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Parameters</a:t>
            </a:r>
            <a:endParaRPr lang="en-US" sz="2800" spc="56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570"/>
              </a:lnSpc>
            </a:pPr>
            <a:r>
              <a:rPr lang="en-US" sz="2240" spc="-16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Input values the function accepts and uses, enclosed in parentheses. Can be empty if no inputs are needed.</a:t>
            </a:r>
            <a:endParaRPr lang="en-US" sz="2240" spc="-16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3426183" y="3200514"/>
            <a:ext cx="3870960" cy="4587240"/>
          </a:xfrm>
          <a:custGeom>
            <a:avLst/>
            <a:gdLst/>
            <a:ahLst/>
            <a:cxnLst/>
            <a:rect l="l" t="t" r="r" b="b"/>
            <a:pathLst>
              <a:path w="3870960" h="4587240">
                <a:moveTo>
                  <a:pt x="0" y="0"/>
                </a:moveTo>
                <a:lnTo>
                  <a:pt x="3870960" y="0"/>
                </a:lnTo>
                <a:lnTo>
                  <a:pt x="3870960" y="4587240"/>
                </a:lnTo>
                <a:lnTo>
                  <a:pt x="0" y="45872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3695188" y="4605099"/>
            <a:ext cx="3089653" cy="2376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Function Body</a:t>
            </a:r>
            <a:endParaRPr lang="en-US" sz="2800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600"/>
              </a:lnSpc>
            </a:pPr>
            <a:r>
              <a:rPr lang="en-US" sz="2240" spc="-32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The actual code that executes when the function is called, wrapped in curly braces.</a:t>
            </a:r>
            <a:endParaRPr lang="en-US" sz="2240" spc="-32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26" name="Group 26"/>
          <p:cNvGrpSpPr/>
          <p:nvPr/>
        </p:nvGrpSpPr>
        <p:grpSpPr>
          <a:xfrm rot="0">
            <a:off x="15328144" y="9481699"/>
            <a:ext cx="2807170" cy="670550"/>
            <a:chOff x="0" y="0"/>
            <a:chExt cx="3742893" cy="89406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742944" cy="894080"/>
            </a:xfrm>
            <a:custGeom>
              <a:avLst/>
              <a:gdLst/>
              <a:ahLst/>
              <a:cxnLst/>
              <a:rect l="l" t="t" r="r" b="b"/>
              <a:pathLst>
                <a:path w="3742944" h="894080">
                  <a:moveTo>
                    <a:pt x="0" y="0"/>
                  </a:moveTo>
                  <a:lnTo>
                    <a:pt x="3742944" y="0"/>
                  </a:lnTo>
                  <a:lnTo>
                    <a:pt x="3742944" y="894080"/>
                  </a:lnTo>
                  <a:lnTo>
                    <a:pt x="0" y="894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r="1" b="1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 rot="0">
            <a:off x="15341603" y="9532515"/>
            <a:ext cx="2824477" cy="650243"/>
            <a:chOff x="0" y="0"/>
            <a:chExt cx="3765969" cy="86699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766058" cy="866902"/>
            </a:xfrm>
            <a:custGeom>
              <a:avLst/>
              <a:gdLst/>
              <a:ahLst/>
              <a:cxnLst/>
              <a:rect l="l" t="t" r="r" b="b"/>
              <a:pathLst>
                <a:path w="3766058" h="866902">
                  <a:moveTo>
                    <a:pt x="3766058" y="0"/>
                  </a:moveTo>
                  <a:lnTo>
                    <a:pt x="0" y="0"/>
                  </a:lnTo>
                  <a:lnTo>
                    <a:pt x="0" y="866902"/>
                  </a:lnTo>
                  <a:lnTo>
                    <a:pt x="3766058" y="866902"/>
                  </a:lnTo>
                  <a:lnTo>
                    <a:pt x="3766058" y="0"/>
                  </a:lnTo>
                  <a:close/>
                </a:path>
              </a:pathLst>
            </a:custGeom>
            <a:solidFill>
              <a:srgbClr val="282B31"/>
            </a:solid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1524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92C31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15240"/>
            <a:ext cx="18288000" cy="3185160"/>
            <a:chOff x="0" y="0"/>
            <a:chExt cx="24384000" cy="42468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4246880"/>
            </a:xfrm>
            <a:custGeom>
              <a:avLst/>
              <a:gdLst/>
              <a:ahLst/>
              <a:cxnLst/>
              <a:rect l="l" t="t" r="r" b="b"/>
              <a:pathLst>
                <a:path w="24384000" h="4246880">
                  <a:moveTo>
                    <a:pt x="0" y="0"/>
                  </a:moveTo>
                  <a:lnTo>
                    <a:pt x="24384000" y="0"/>
                  </a:lnTo>
                  <a:lnTo>
                    <a:pt x="24384000" y="4246880"/>
                  </a:lnTo>
                  <a:lnTo>
                    <a:pt x="0" y="424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239" b="-23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72185" y="4083685"/>
            <a:ext cx="8738235" cy="762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50"/>
              </a:lnSpc>
            </a:pPr>
            <a:r>
              <a:rPr lang="en-US" sz="4960" spc="175">
                <a:solidFill>
                  <a:srgbClr val="F3F3F2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Reusability of Functions in C</a:t>
            </a:r>
            <a:endParaRPr lang="en-US" sz="4960" spc="175">
              <a:solidFill>
                <a:srgbClr val="F3F3F2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90600" y="6675120"/>
            <a:ext cx="5288280" cy="30480"/>
            <a:chOff x="0" y="0"/>
            <a:chExt cx="7051040" cy="406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51040" cy="40640"/>
            </a:xfrm>
            <a:custGeom>
              <a:avLst/>
              <a:gdLst/>
              <a:ahLst/>
              <a:cxnLst/>
              <a:rect l="l" t="t" r="r" b="b"/>
              <a:pathLst>
                <a:path w="7051040" h="40640">
                  <a:moveTo>
                    <a:pt x="7051040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7051040" y="40640"/>
                  </a:lnTo>
                  <a:lnTo>
                    <a:pt x="7051040" y="0"/>
                  </a:lnTo>
                  <a:close/>
                </a:path>
              </a:pathLst>
            </a:custGeom>
            <a:solidFill>
              <a:srgbClr val="FFBB8E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71950" y="6838750"/>
            <a:ext cx="4580125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480">
                <a:solidFill>
                  <a:srgbClr val="D4D4D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Write once</a:t>
            </a:r>
            <a:endParaRPr lang="en-US" sz="2480">
              <a:solidFill>
                <a:srgbClr val="D4D4D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120"/>
              </a:lnSpc>
            </a:pPr>
            <a:r>
              <a:rPr lang="en-US" sz="2000" spc="-16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Define your function with clear logic and parameters</a:t>
            </a:r>
            <a:endParaRPr lang="en-US" sz="2000" spc="-16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6507480" y="6675120"/>
            <a:ext cx="5273040" cy="30480"/>
            <a:chOff x="0" y="0"/>
            <a:chExt cx="7030720" cy="406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30720" cy="40640"/>
            </a:xfrm>
            <a:custGeom>
              <a:avLst/>
              <a:gdLst/>
              <a:ahLst/>
              <a:cxnLst/>
              <a:rect l="l" t="t" r="r" b="b"/>
              <a:pathLst>
                <a:path w="7030720" h="40640">
                  <a:moveTo>
                    <a:pt x="7030720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7030720" y="40640"/>
                  </a:lnTo>
                  <a:lnTo>
                    <a:pt x="7030720" y="0"/>
                  </a:lnTo>
                  <a:close/>
                </a:path>
              </a:pathLst>
            </a:custGeom>
            <a:solidFill>
              <a:srgbClr val="FFBB8E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6482867" y="6838750"/>
            <a:ext cx="4643123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480" spc="55">
                <a:solidFill>
                  <a:srgbClr val="D4D4D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Call anywhere</a:t>
            </a:r>
            <a:endParaRPr lang="en-US" sz="2480" spc="55">
              <a:solidFill>
                <a:srgbClr val="D4D4D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120"/>
              </a:lnSpc>
            </a:pPr>
            <a:r>
              <a:rPr lang="en-US" sz="2000" spc="-16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Invoke the function from any part of your program</a:t>
            </a:r>
            <a:endParaRPr lang="en-US" sz="2000" spc="-16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46461" y="5102447"/>
            <a:ext cx="16298675" cy="138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One of the most powerful advantages of functions is reusability. Once you define a function, you can call it as many times as needed throughout your program without rewriting the code.</a:t>
            </a:r>
            <a:endParaRPr lang="en-US" sz="2000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 spc="-40">
                <a:solidFill>
                  <a:srgbClr val="D4D4D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01	                               02	                                03</a:t>
            </a:r>
            <a:endParaRPr lang="en-US" sz="2000" spc="-40">
              <a:solidFill>
                <a:srgbClr val="D4D4D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12009120" y="6675120"/>
            <a:ext cx="5288280" cy="30480"/>
            <a:chOff x="0" y="0"/>
            <a:chExt cx="7051040" cy="406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51040" cy="40640"/>
            </a:xfrm>
            <a:custGeom>
              <a:avLst/>
              <a:gdLst/>
              <a:ahLst/>
              <a:cxnLst/>
              <a:rect l="l" t="t" r="r" b="b"/>
              <a:pathLst>
                <a:path w="7051040" h="40640">
                  <a:moveTo>
                    <a:pt x="7051040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7051040" y="40640"/>
                  </a:lnTo>
                  <a:lnTo>
                    <a:pt x="7051040" y="0"/>
                  </a:lnTo>
                  <a:close/>
                </a:path>
              </a:pathLst>
            </a:custGeom>
            <a:solidFill>
              <a:srgbClr val="FFBB8E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1993794" y="6838750"/>
            <a:ext cx="507492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480" spc="79">
                <a:solidFill>
                  <a:srgbClr val="D4D4D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Maintain easily</a:t>
            </a:r>
            <a:endParaRPr lang="en-US" sz="2480" spc="79">
              <a:solidFill>
                <a:srgbClr val="D4D4D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120"/>
              </a:lnSpc>
            </a:pPr>
            <a:r>
              <a:rPr lang="en-US" sz="2000" spc="-16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Update the function once and changes apply everywhere it's used</a:t>
            </a:r>
            <a:endParaRPr lang="en-US" sz="2000" spc="-16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71941" y="8485727"/>
            <a:ext cx="1586484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This approach saves time, reduces bugs from copy-paste errors, and makes your codebase dramatically more maintainable. A well-designed function becomes a reliable tool you can depend on across multiple projects.</a:t>
            </a:r>
            <a:endParaRPr lang="en-US" sz="2000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8" name="Group 18"/>
          <p:cNvGrpSpPr/>
          <p:nvPr/>
        </p:nvGrpSpPr>
        <p:grpSpPr>
          <a:xfrm rot="0">
            <a:off x="15328392" y="9481718"/>
            <a:ext cx="2807208" cy="670560"/>
            <a:chOff x="0" y="0"/>
            <a:chExt cx="3742944" cy="8940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742944" cy="894080"/>
            </a:xfrm>
            <a:custGeom>
              <a:avLst/>
              <a:gdLst/>
              <a:ahLst/>
              <a:cxnLst/>
              <a:rect l="l" t="t" r="r" b="b"/>
              <a:pathLst>
                <a:path w="3742944" h="894080">
                  <a:moveTo>
                    <a:pt x="0" y="0"/>
                  </a:moveTo>
                  <a:lnTo>
                    <a:pt x="3742944" y="0"/>
                  </a:lnTo>
                  <a:lnTo>
                    <a:pt x="3742944" y="894080"/>
                  </a:lnTo>
                  <a:lnTo>
                    <a:pt x="0" y="894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15341594" y="9532515"/>
            <a:ext cx="2824477" cy="650243"/>
            <a:chOff x="0" y="0"/>
            <a:chExt cx="3765969" cy="8669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65931" cy="867029"/>
            </a:xfrm>
            <a:custGeom>
              <a:avLst/>
              <a:gdLst/>
              <a:ahLst/>
              <a:cxnLst/>
              <a:rect l="l" t="t" r="r" b="b"/>
              <a:pathLst>
                <a:path w="3765931" h="867029">
                  <a:moveTo>
                    <a:pt x="3765931" y="0"/>
                  </a:moveTo>
                  <a:lnTo>
                    <a:pt x="0" y="0"/>
                  </a:lnTo>
                  <a:lnTo>
                    <a:pt x="0" y="867029"/>
                  </a:lnTo>
                  <a:lnTo>
                    <a:pt x="3765931" y="867029"/>
                  </a:lnTo>
                  <a:lnTo>
                    <a:pt x="3765931" y="0"/>
                  </a:lnTo>
                  <a:close/>
                </a:path>
              </a:pathLst>
            </a:custGeom>
            <a:solidFill>
              <a:srgbClr val="282B31"/>
            </a:solid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1524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292B32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71941" y="865146"/>
            <a:ext cx="16344119" cy="7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5"/>
              </a:lnSpc>
            </a:pPr>
            <a:r>
              <a:rPr lang="en-US" sz="4720" spc="144">
                <a:solidFill>
                  <a:srgbClr val="F2F2F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Modularity of Functions in C</a:t>
            </a:r>
            <a:endParaRPr lang="en-US" sz="4720" spc="144">
              <a:solidFill>
                <a:srgbClr val="F2F2F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71941" y="1963388"/>
            <a:ext cx="16117824" cy="787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1840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Modularity means breaking down a complex program into smaller, independent, self-contained units—each function handles one specific responsibility. This design principle makes programs easier to understand, test, and modify.</a:t>
            </a:r>
            <a:endParaRPr lang="en-US" sz="1840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960110" y="3246139"/>
            <a:ext cx="7894653" cy="1828800"/>
          </a:xfrm>
          <a:custGeom>
            <a:avLst/>
            <a:gdLst/>
            <a:ahLst/>
            <a:cxnLst/>
            <a:rect l="l" t="t" r="r" b="b"/>
            <a:pathLst>
              <a:path w="7894653" h="1828800">
                <a:moveTo>
                  <a:pt x="0" y="0"/>
                </a:moveTo>
                <a:lnTo>
                  <a:pt x="7894654" y="0"/>
                </a:lnTo>
                <a:lnTo>
                  <a:pt x="7894654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34843" y="3505076"/>
            <a:ext cx="6616189" cy="127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2320" spc="72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Separation of Concerns</a:t>
            </a:r>
            <a:endParaRPr lang="en-US" sz="2320" spc="72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2760"/>
              </a:lnSpc>
            </a:pPr>
            <a:r>
              <a:rPr lang="en-US" sz="1840" spc="57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Each function focuses on a single task, making logic easier to follow and reducing interdependencies.</a:t>
            </a:r>
            <a:endParaRPr lang="en-US" sz="1840" spc="57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960110" y="5288318"/>
            <a:ext cx="7894634" cy="1828810"/>
          </a:xfrm>
          <a:custGeom>
            <a:avLst/>
            <a:gdLst/>
            <a:ahLst/>
            <a:cxnLst/>
            <a:rect l="l" t="t" r="r" b="b"/>
            <a:pathLst>
              <a:path w="7894634" h="1828810">
                <a:moveTo>
                  <a:pt x="0" y="0"/>
                </a:moveTo>
                <a:lnTo>
                  <a:pt x="7894635" y="0"/>
                </a:lnTo>
                <a:lnTo>
                  <a:pt x="7894635" y="1828810"/>
                </a:lnTo>
                <a:lnTo>
                  <a:pt x="0" y="18288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34833" y="5547246"/>
            <a:ext cx="7205472" cy="127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2320" spc="55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Team Collaboration</a:t>
            </a:r>
            <a:endParaRPr lang="en-US" sz="2320" spc="55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2760"/>
              </a:lnSpc>
            </a:pPr>
            <a:r>
              <a:rPr lang="en-US" sz="1840" spc="44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Multiple developers can work on different functions simultaneously without conflicts.</a:t>
            </a:r>
            <a:endParaRPr lang="en-US" sz="1840" spc="44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960101" y="7330459"/>
            <a:ext cx="7894634" cy="1828829"/>
          </a:xfrm>
          <a:custGeom>
            <a:avLst/>
            <a:gdLst/>
            <a:ahLst/>
            <a:cxnLst/>
            <a:rect l="l" t="t" r="r" b="b"/>
            <a:pathLst>
              <a:path w="7894634" h="1828829">
                <a:moveTo>
                  <a:pt x="0" y="0"/>
                </a:moveTo>
                <a:lnTo>
                  <a:pt x="7894634" y="0"/>
                </a:lnTo>
                <a:lnTo>
                  <a:pt x="7894634" y="1828829"/>
                </a:lnTo>
                <a:lnTo>
                  <a:pt x="0" y="1828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34833" y="7589387"/>
            <a:ext cx="7197347" cy="127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2320" spc="87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Isolated Testing</a:t>
            </a:r>
            <a:endParaRPr lang="en-US" sz="2320" spc="87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2760"/>
              </a:lnSpc>
            </a:pPr>
            <a:r>
              <a:rPr lang="en-US" sz="1840" spc="69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Test individual functions independently to verify correctness before integrating them.</a:t>
            </a:r>
            <a:endParaRPr lang="en-US" sz="1840" spc="69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11856472" y="3794884"/>
            <a:ext cx="1645920" cy="701040"/>
            <a:chOff x="0" y="0"/>
            <a:chExt cx="2194560" cy="934720"/>
          </a:xfrm>
        </p:grpSpPr>
        <p:sp>
          <p:nvSpPr>
            <p:cNvPr id="13" name="Freeform 13"/>
            <p:cNvSpPr/>
            <p:nvPr/>
          </p:nvSpPr>
          <p:spPr>
            <a:xfrm>
              <a:off x="182880" y="0"/>
              <a:ext cx="975360" cy="446913"/>
            </a:xfrm>
            <a:custGeom>
              <a:avLst/>
              <a:gdLst/>
              <a:ahLst/>
              <a:cxnLst/>
              <a:rect l="l" t="t" r="r" b="b"/>
              <a:pathLst>
                <a:path w="975360" h="446913">
                  <a:moveTo>
                    <a:pt x="975360" y="34798"/>
                  </a:moveTo>
                  <a:lnTo>
                    <a:pt x="940435" y="0"/>
                  </a:lnTo>
                  <a:lnTo>
                    <a:pt x="34798" y="0"/>
                  </a:lnTo>
                  <a:lnTo>
                    <a:pt x="0" y="34798"/>
                  </a:lnTo>
                  <a:lnTo>
                    <a:pt x="0" y="406781"/>
                  </a:lnTo>
                  <a:lnTo>
                    <a:pt x="0" y="412115"/>
                  </a:lnTo>
                  <a:lnTo>
                    <a:pt x="34798" y="446913"/>
                  </a:lnTo>
                  <a:lnTo>
                    <a:pt x="940435" y="446913"/>
                  </a:lnTo>
                  <a:lnTo>
                    <a:pt x="975233" y="412115"/>
                  </a:lnTo>
                  <a:lnTo>
                    <a:pt x="975233" y="34798"/>
                  </a:lnTo>
                  <a:close/>
                </a:path>
              </a:pathLst>
            </a:custGeom>
            <a:solidFill>
              <a:srgbClr val="36383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487680"/>
              <a:ext cx="2194560" cy="447040"/>
            </a:xfrm>
            <a:custGeom>
              <a:avLst/>
              <a:gdLst/>
              <a:ahLst/>
              <a:cxnLst/>
              <a:rect l="l" t="t" r="r" b="b"/>
              <a:pathLst>
                <a:path w="2194560" h="447040">
                  <a:moveTo>
                    <a:pt x="2194560" y="34798"/>
                  </a:moveTo>
                  <a:lnTo>
                    <a:pt x="2159635" y="0"/>
                  </a:lnTo>
                  <a:lnTo>
                    <a:pt x="34798" y="0"/>
                  </a:lnTo>
                  <a:lnTo>
                    <a:pt x="0" y="34798"/>
                  </a:lnTo>
                  <a:lnTo>
                    <a:pt x="0" y="406781"/>
                  </a:lnTo>
                  <a:lnTo>
                    <a:pt x="0" y="412115"/>
                  </a:lnTo>
                  <a:lnTo>
                    <a:pt x="34798" y="447040"/>
                  </a:lnTo>
                  <a:lnTo>
                    <a:pt x="2159635" y="447040"/>
                  </a:lnTo>
                  <a:lnTo>
                    <a:pt x="2194560" y="412115"/>
                  </a:lnTo>
                  <a:lnTo>
                    <a:pt x="2194560" y="34798"/>
                  </a:lnTo>
                  <a:close/>
                </a:path>
              </a:pathLst>
            </a:custGeom>
            <a:solidFill>
              <a:srgbClr val="36383F"/>
            </a:solidFill>
          </p:spPr>
        </p:sp>
      </p:grpSp>
      <p:grpSp>
        <p:nvGrpSpPr>
          <p:cNvPr id="15" name="Group 15"/>
          <p:cNvGrpSpPr/>
          <p:nvPr/>
        </p:nvGrpSpPr>
        <p:grpSpPr>
          <a:xfrm rot="0">
            <a:off x="13578545" y="4160615"/>
            <a:ext cx="1706880" cy="335280"/>
            <a:chOff x="0" y="0"/>
            <a:chExt cx="2275840" cy="4470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5840" cy="447040"/>
            </a:xfrm>
            <a:custGeom>
              <a:avLst/>
              <a:gdLst/>
              <a:ahLst/>
              <a:cxnLst/>
              <a:rect l="l" t="t" r="r" b="b"/>
              <a:pathLst>
                <a:path w="2275840" h="447040">
                  <a:moveTo>
                    <a:pt x="2241042" y="447040"/>
                  </a:moveTo>
                  <a:lnTo>
                    <a:pt x="34798" y="447040"/>
                  </a:lnTo>
                  <a:lnTo>
                    <a:pt x="29718" y="446024"/>
                  </a:lnTo>
                  <a:lnTo>
                    <a:pt x="0" y="412242"/>
                  </a:lnTo>
                  <a:lnTo>
                    <a:pt x="0" y="406908"/>
                  </a:lnTo>
                  <a:lnTo>
                    <a:pt x="0" y="34798"/>
                  </a:lnTo>
                  <a:lnTo>
                    <a:pt x="34798" y="0"/>
                  </a:lnTo>
                  <a:lnTo>
                    <a:pt x="2241042" y="0"/>
                  </a:lnTo>
                  <a:lnTo>
                    <a:pt x="2275840" y="34798"/>
                  </a:lnTo>
                  <a:lnTo>
                    <a:pt x="2275840" y="412242"/>
                  </a:lnTo>
                  <a:lnTo>
                    <a:pt x="2246122" y="446024"/>
                  </a:lnTo>
                  <a:lnTo>
                    <a:pt x="2241042" y="447040"/>
                  </a:lnTo>
                  <a:close/>
                </a:path>
              </a:pathLst>
            </a:custGeom>
            <a:solidFill>
              <a:srgbClr val="36383F"/>
            </a:solidFill>
          </p:spPr>
        </p:sp>
      </p:grpSp>
      <p:grpSp>
        <p:nvGrpSpPr>
          <p:cNvPr id="17" name="Group 17"/>
          <p:cNvGrpSpPr/>
          <p:nvPr/>
        </p:nvGrpSpPr>
        <p:grpSpPr>
          <a:xfrm rot="0">
            <a:off x="9448543" y="4511145"/>
            <a:ext cx="1752600" cy="335280"/>
            <a:chOff x="0" y="0"/>
            <a:chExt cx="2336800" cy="4470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36673" cy="447040"/>
            </a:xfrm>
            <a:custGeom>
              <a:avLst/>
              <a:gdLst/>
              <a:ahLst/>
              <a:cxnLst/>
              <a:rect l="l" t="t" r="r" b="b"/>
              <a:pathLst>
                <a:path w="2336673" h="447040">
                  <a:moveTo>
                    <a:pt x="2301875" y="447040"/>
                  </a:moveTo>
                  <a:lnTo>
                    <a:pt x="34798" y="447040"/>
                  </a:lnTo>
                  <a:lnTo>
                    <a:pt x="29718" y="446024"/>
                  </a:lnTo>
                  <a:lnTo>
                    <a:pt x="0" y="412242"/>
                  </a:lnTo>
                  <a:lnTo>
                    <a:pt x="0" y="406908"/>
                  </a:lnTo>
                  <a:lnTo>
                    <a:pt x="0" y="34798"/>
                  </a:lnTo>
                  <a:lnTo>
                    <a:pt x="34798" y="0"/>
                  </a:lnTo>
                  <a:lnTo>
                    <a:pt x="2301875" y="0"/>
                  </a:lnTo>
                  <a:lnTo>
                    <a:pt x="2336673" y="34798"/>
                  </a:lnTo>
                  <a:lnTo>
                    <a:pt x="2336673" y="412242"/>
                  </a:lnTo>
                  <a:lnTo>
                    <a:pt x="2306955" y="446024"/>
                  </a:lnTo>
                  <a:lnTo>
                    <a:pt x="2301875" y="447040"/>
                  </a:lnTo>
                  <a:close/>
                </a:path>
              </a:pathLst>
            </a:custGeom>
            <a:solidFill>
              <a:srgbClr val="36383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432503" y="3200333"/>
            <a:ext cx="7321296" cy="253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2320">
                <a:solidFill>
                  <a:srgbClr val="F2F2F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Modular Design in Action</a:t>
            </a:r>
            <a:endParaRPr lang="en-US" sz="2320">
              <a:solidFill>
                <a:srgbClr val="F2F2F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2820"/>
              </a:lnSpc>
            </a:pPr>
            <a:r>
              <a:rPr lang="en-US" sz="1840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Instead of one massive main() function with 500 lines, you create focused functions like getUserInput(), calculateTotal(), and displayResults(). Each handles its specific job clearly.</a:t>
            </a:r>
            <a:endParaRPr lang="en-US" sz="1840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2760"/>
              </a:lnSpc>
            </a:pPr>
            <a:r>
              <a:rPr lang="en-US" sz="1840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This structure mirrors how you naturally think about problems: break them into steps, solve each step, then combine the solutions.</a:t>
            </a:r>
            <a:endParaRPr lang="en-US" sz="1840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20" name="Group 20"/>
          <p:cNvGrpSpPr/>
          <p:nvPr/>
        </p:nvGrpSpPr>
        <p:grpSpPr>
          <a:xfrm rot="0">
            <a:off x="15327897" y="9481699"/>
            <a:ext cx="2807122" cy="670541"/>
            <a:chOff x="0" y="0"/>
            <a:chExt cx="3742830" cy="89405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42817" cy="894080"/>
            </a:xfrm>
            <a:custGeom>
              <a:avLst/>
              <a:gdLst/>
              <a:ahLst/>
              <a:cxnLst/>
              <a:rect l="l" t="t" r="r" b="b"/>
              <a:pathLst>
                <a:path w="3742817" h="894080">
                  <a:moveTo>
                    <a:pt x="0" y="0"/>
                  </a:moveTo>
                  <a:lnTo>
                    <a:pt x="3742817" y="0"/>
                  </a:lnTo>
                  <a:lnTo>
                    <a:pt x="3742817" y="894080"/>
                  </a:lnTo>
                  <a:lnTo>
                    <a:pt x="0" y="894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3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 rot="0">
            <a:off x="15341603" y="9532515"/>
            <a:ext cx="2824477" cy="650243"/>
            <a:chOff x="0" y="0"/>
            <a:chExt cx="3765969" cy="866991"/>
          </a:xfrm>
        </p:grpSpPr>
        <p:sp>
          <p:nvSpPr>
            <p:cNvPr id="23" name="Freeform 23"/>
            <p:cNvSpPr/>
            <p:nvPr/>
          </p:nvSpPr>
          <p:spPr>
            <a:xfrm>
              <a:off x="-127" y="0"/>
              <a:ext cx="3765931" cy="866902"/>
            </a:xfrm>
            <a:custGeom>
              <a:avLst/>
              <a:gdLst/>
              <a:ahLst/>
              <a:cxnLst/>
              <a:rect l="l" t="t" r="r" b="b"/>
              <a:pathLst>
                <a:path w="3765931" h="866902">
                  <a:moveTo>
                    <a:pt x="3765931" y="0"/>
                  </a:moveTo>
                  <a:lnTo>
                    <a:pt x="0" y="0"/>
                  </a:lnTo>
                  <a:lnTo>
                    <a:pt x="0" y="866902"/>
                  </a:lnTo>
                  <a:lnTo>
                    <a:pt x="3765931" y="866902"/>
                  </a:lnTo>
                  <a:lnTo>
                    <a:pt x="3765931" y="0"/>
                  </a:lnTo>
                  <a:close/>
                </a:path>
              </a:pathLst>
            </a:custGeom>
            <a:solidFill>
              <a:srgbClr val="282B31"/>
            </a:solid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1524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92C31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15240"/>
            <a:ext cx="18288000" cy="3185160"/>
            <a:chOff x="0" y="0"/>
            <a:chExt cx="24384000" cy="42468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4246880"/>
            </a:xfrm>
            <a:custGeom>
              <a:avLst/>
              <a:gdLst/>
              <a:ahLst/>
              <a:cxnLst/>
              <a:rect l="l" t="t" r="r" b="b"/>
              <a:pathLst>
                <a:path w="24384000" h="4246880">
                  <a:moveTo>
                    <a:pt x="0" y="0"/>
                  </a:moveTo>
                  <a:lnTo>
                    <a:pt x="24384000" y="0"/>
                  </a:lnTo>
                  <a:lnTo>
                    <a:pt x="24384000" y="4246880"/>
                  </a:lnTo>
                  <a:lnTo>
                    <a:pt x="0" y="424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239" b="-23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72185" y="4114165"/>
            <a:ext cx="7201535" cy="762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50"/>
              </a:lnSpc>
            </a:pPr>
            <a:r>
              <a:rPr lang="en-US" sz="4960" spc="159">
                <a:solidFill>
                  <a:srgbClr val="F3F3F2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Library Functions in C</a:t>
            </a:r>
            <a:endParaRPr lang="en-US" sz="4960" spc="159">
              <a:solidFill>
                <a:srgbClr val="F3F3F2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4145280" y="5669280"/>
            <a:ext cx="1051560" cy="350520"/>
            <a:chOff x="0" y="0"/>
            <a:chExt cx="1402080" cy="4673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02080" cy="467360"/>
            </a:xfrm>
            <a:custGeom>
              <a:avLst/>
              <a:gdLst/>
              <a:ahLst/>
              <a:cxnLst/>
              <a:rect l="l" t="t" r="r" b="b"/>
              <a:pathLst>
                <a:path w="1402080" h="467360">
                  <a:moveTo>
                    <a:pt x="1365123" y="0"/>
                  </a:moveTo>
                  <a:lnTo>
                    <a:pt x="36957" y="0"/>
                  </a:lnTo>
                  <a:lnTo>
                    <a:pt x="31496" y="1143"/>
                  </a:lnTo>
                  <a:lnTo>
                    <a:pt x="0" y="36830"/>
                  </a:lnTo>
                  <a:lnTo>
                    <a:pt x="0" y="424815"/>
                  </a:lnTo>
                  <a:lnTo>
                    <a:pt x="0" y="430403"/>
                  </a:lnTo>
                  <a:lnTo>
                    <a:pt x="36957" y="467360"/>
                  </a:lnTo>
                  <a:lnTo>
                    <a:pt x="1365123" y="467360"/>
                  </a:lnTo>
                  <a:lnTo>
                    <a:pt x="1402080" y="430403"/>
                  </a:lnTo>
                  <a:lnTo>
                    <a:pt x="1402080" y="36830"/>
                  </a:lnTo>
                  <a:lnTo>
                    <a:pt x="1370584" y="1143"/>
                  </a:lnTo>
                  <a:lnTo>
                    <a:pt x="1365123" y="0"/>
                  </a:lnTo>
                  <a:close/>
                </a:path>
              </a:pathLst>
            </a:custGeom>
            <a:solidFill>
              <a:srgbClr val="36383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71921" y="5108162"/>
            <a:ext cx="15563088" cy="906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000" spc="-16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 provides numerous built-in functions through standard libraries, saving you from writing common functionality from scratch. Include the appropriate header file with #include to access these powerful tools.</a:t>
            </a:r>
            <a:endParaRPr lang="en-US" sz="2000" spc="-16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1005840" y="6339840"/>
            <a:ext cx="3870960" cy="3002280"/>
            <a:chOff x="0" y="0"/>
            <a:chExt cx="5161280" cy="40030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161153" cy="4002913"/>
            </a:xfrm>
            <a:custGeom>
              <a:avLst/>
              <a:gdLst/>
              <a:ahLst/>
              <a:cxnLst/>
              <a:rect l="l" t="t" r="r" b="b"/>
              <a:pathLst>
                <a:path w="5161153" h="4002913">
                  <a:moveTo>
                    <a:pt x="5145151" y="0"/>
                  </a:moveTo>
                  <a:lnTo>
                    <a:pt x="16129" y="0"/>
                  </a:lnTo>
                  <a:lnTo>
                    <a:pt x="10795" y="2159"/>
                  </a:lnTo>
                  <a:lnTo>
                    <a:pt x="2159" y="10795"/>
                  </a:lnTo>
                  <a:lnTo>
                    <a:pt x="0" y="16129"/>
                  </a:lnTo>
                  <a:lnTo>
                    <a:pt x="0" y="3980815"/>
                  </a:lnTo>
                  <a:lnTo>
                    <a:pt x="0" y="3986911"/>
                  </a:lnTo>
                  <a:lnTo>
                    <a:pt x="2159" y="3992118"/>
                  </a:lnTo>
                  <a:lnTo>
                    <a:pt x="10795" y="4000754"/>
                  </a:lnTo>
                  <a:lnTo>
                    <a:pt x="16002" y="4002913"/>
                  </a:lnTo>
                  <a:lnTo>
                    <a:pt x="5145151" y="4002913"/>
                  </a:lnTo>
                  <a:lnTo>
                    <a:pt x="5150358" y="4000754"/>
                  </a:lnTo>
                  <a:lnTo>
                    <a:pt x="5158994" y="3992118"/>
                  </a:lnTo>
                  <a:lnTo>
                    <a:pt x="5161153" y="3986911"/>
                  </a:lnTo>
                  <a:lnTo>
                    <a:pt x="5161153" y="16129"/>
                  </a:lnTo>
                  <a:lnTo>
                    <a:pt x="5158994" y="10922"/>
                  </a:lnTo>
                  <a:lnTo>
                    <a:pt x="5150358" y="2286"/>
                  </a:lnTo>
                  <a:lnTo>
                    <a:pt x="5145151" y="127"/>
                  </a:lnTo>
                  <a:close/>
                </a:path>
              </a:pathLst>
            </a:custGeom>
            <a:solidFill>
              <a:srgbClr val="292C31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990600" y="6324600"/>
            <a:ext cx="3901440" cy="3032760"/>
          </a:xfrm>
          <a:custGeom>
            <a:avLst/>
            <a:gdLst/>
            <a:ahLst/>
            <a:cxnLst/>
            <a:rect l="l" t="t" r="r" b="b"/>
            <a:pathLst>
              <a:path w="3901440" h="3032760">
                <a:moveTo>
                  <a:pt x="0" y="0"/>
                </a:moveTo>
                <a:lnTo>
                  <a:pt x="3901440" y="0"/>
                </a:lnTo>
                <a:lnTo>
                  <a:pt x="3901440" y="3032760"/>
                </a:lnTo>
                <a:lnTo>
                  <a:pt x="0" y="3032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0">
            <a:off x="1021080" y="6354489"/>
            <a:ext cx="3840480" cy="762000"/>
            <a:chOff x="0" y="0"/>
            <a:chExt cx="5120640" cy="1016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20640" cy="1016000"/>
            </a:xfrm>
            <a:custGeom>
              <a:avLst/>
              <a:gdLst/>
              <a:ahLst/>
              <a:cxnLst/>
              <a:rect l="l" t="t" r="r" b="b"/>
              <a:pathLst>
                <a:path w="5120640" h="1016000">
                  <a:moveTo>
                    <a:pt x="5120640" y="2667"/>
                  </a:moveTo>
                  <a:lnTo>
                    <a:pt x="5120513" y="0"/>
                  </a:lnTo>
                  <a:lnTo>
                    <a:pt x="127" y="0"/>
                  </a:lnTo>
                  <a:lnTo>
                    <a:pt x="127" y="2667"/>
                  </a:lnTo>
                  <a:lnTo>
                    <a:pt x="0" y="1016000"/>
                  </a:lnTo>
                  <a:lnTo>
                    <a:pt x="5120640" y="1016000"/>
                  </a:lnTo>
                  <a:lnTo>
                    <a:pt x="5120640" y="2667"/>
                  </a:lnTo>
                  <a:close/>
                </a:path>
              </a:pathLst>
            </a:custGeom>
            <a:solidFill>
              <a:srgbClr val="484B50"/>
            </a:solidFill>
          </p:spPr>
        </p:sp>
      </p:grpSp>
      <p:grpSp>
        <p:nvGrpSpPr>
          <p:cNvPr id="15" name="Group 15"/>
          <p:cNvGrpSpPr/>
          <p:nvPr/>
        </p:nvGrpSpPr>
        <p:grpSpPr>
          <a:xfrm rot="0">
            <a:off x="2782919" y="6529483"/>
            <a:ext cx="333699" cy="399612"/>
            <a:chOff x="0" y="0"/>
            <a:chExt cx="444932" cy="5328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4881" cy="532765"/>
            </a:xfrm>
            <a:custGeom>
              <a:avLst/>
              <a:gdLst/>
              <a:ahLst/>
              <a:cxnLst/>
              <a:rect l="l" t="t" r="r" b="b"/>
              <a:pathLst>
                <a:path w="444881" h="532765">
                  <a:moveTo>
                    <a:pt x="0" y="0"/>
                  </a:moveTo>
                  <a:lnTo>
                    <a:pt x="444881" y="0"/>
                  </a:lnTo>
                  <a:lnTo>
                    <a:pt x="444881" y="532765"/>
                  </a:lnTo>
                  <a:lnTo>
                    <a:pt x="0" y="532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65" r="-676" b="-9"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1264920" y="8290579"/>
            <a:ext cx="2880360" cy="746760"/>
          </a:xfrm>
          <a:custGeom>
            <a:avLst/>
            <a:gdLst/>
            <a:ahLst/>
            <a:cxnLst/>
            <a:rect l="l" t="t" r="r" b="b"/>
            <a:pathLst>
              <a:path w="2880360" h="746760">
                <a:moveTo>
                  <a:pt x="0" y="0"/>
                </a:moveTo>
                <a:lnTo>
                  <a:pt x="2880360" y="0"/>
                </a:lnTo>
                <a:lnTo>
                  <a:pt x="2880360" y="746760"/>
                </a:lnTo>
                <a:lnTo>
                  <a:pt x="0" y="7467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57452" y="7326430"/>
            <a:ext cx="3039875" cy="170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480" spc="-15">
                <a:solidFill>
                  <a:srgbClr val="D4D4D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stdio.h</a:t>
            </a:r>
            <a:endParaRPr lang="en-US" sz="2480" spc="-15">
              <a:solidFill>
                <a:srgbClr val="D4D4D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180"/>
              </a:lnSpc>
            </a:pPr>
            <a:r>
              <a:rPr lang="en-US" sz="2000" spc="-16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Input/output functions like printf(), scanf(), getchar(), and fopen()</a:t>
            </a:r>
            <a:endParaRPr lang="en-US" sz="2000" spc="-16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9" name="Group 19"/>
          <p:cNvGrpSpPr/>
          <p:nvPr/>
        </p:nvGrpSpPr>
        <p:grpSpPr>
          <a:xfrm rot="0">
            <a:off x="5135880" y="6339840"/>
            <a:ext cx="3870960" cy="3002280"/>
            <a:chOff x="0" y="0"/>
            <a:chExt cx="5161280" cy="40030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61153" cy="4002913"/>
            </a:xfrm>
            <a:custGeom>
              <a:avLst/>
              <a:gdLst/>
              <a:ahLst/>
              <a:cxnLst/>
              <a:rect l="l" t="t" r="r" b="b"/>
              <a:pathLst>
                <a:path w="5161153" h="4002913">
                  <a:moveTo>
                    <a:pt x="5145151" y="0"/>
                  </a:moveTo>
                  <a:lnTo>
                    <a:pt x="16129" y="0"/>
                  </a:lnTo>
                  <a:lnTo>
                    <a:pt x="10795" y="2159"/>
                  </a:lnTo>
                  <a:lnTo>
                    <a:pt x="2159" y="10795"/>
                  </a:lnTo>
                  <a:lnTo>
                    <a:pt x="0" y="16129"/>
                  </a:lnTo>
                  <a:lnTo>
                    <a:pt x="0" y="3980815"/>
                  </a:lnTo>
                  <a:lnTo>
                    <a:pt x="0" y="3986911"/>
                  </a:lnTo>
                  <a:lnTo>
                    <a:pt x="2159" y="3992118"/>
                  </a:lnTo>
                  <a:lnTo>
                    <a:pt x="10795" y="4000754"/>
                  </a:lnTo>
                  <a:lnTo>
                    <a:pt x="16002" y="4002913"/>
                  </a:lnTo>
                  <a:lnTo>
                    <a:pt x="5145151" y="4002913"/>
                  </a:lnTo>
                  <a:lnTo>
                    <a:pt x="5150358" y="4000754"/>
                  </a:lnTo>
                  <a:lnTo>
                    <a:pt x="5158994" y="3992118"/>
                  </a:lnTo>
                  <a:lnTo>
                    <a:pt x="5161153" y="3986911"/>
                  </a:lnTo>
                  <a:lnTo>
                    <a:pt x="5161153" y="16129"/>
                  </a:lnTo>
                  <a:lnTo>
                    <a:pt x="5158994" y="10922"/>
                  </a:lnTo>
                  <a:lnTo>
                    <a:pt x="5150358" y="2286"/>
                  </a:lnTo>
                  <a:lnTo>
                    <a:pt x="5145151" y="127"/>
                  </a:lnTo>
                  <a:close/>
                </a:path>
              </a:pathLst>
            </a:custGeom>
            <a:solidFill>
              <a:srgbClr val="292C31"/>
            </a:solidFill>
          </p:spPr>
        </p:sp>
      </p:grpSp>
      <p:sp>
        <p:nvSpPr>
          <p:cNvPr id="21" name="Freeform 21"/>
          <p:cNvSpPr/>
          <p:nvPr/>
        </p:nvSpPr>
        <p:spPr>
          <a:xfrm>
            <a:off x="5120640" y="6324600"/>
            <a:ext cx="3901440" cy="3032760"/>
          </a:xfrm>
          <a:custGeom>
            <a:avLst/>
            <a:gdLst/>
            <a:ahLst/>
            <a:cxnLst/>
            <a:rect l="l" t="t" r="r" b="b"/>
            <a:pathLst>
              <a:path w="3901440" h="3032760">
                <a:moveTo>
                  <a:pt x="0" y="0"/>
                </a:moveTo>
                <a:lnTo>
                  <a:pt x="3901440" y="0"/>
                </a:lnTo>
                <a:lnTo>
                  <a:pt x="3901440" y="3032760"/>
                </a:lnTo>
                <a:lnTo>
                  <a:pt x="0" y="3032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 rot="0">
            <a:off x="5151120" y="6354489"/>
            <a:ext cx="3840480" cy="762000"/>
            <a:chOff x="0" y="0"/>
            <a:chExt cx="5120640" cy="1016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120640" cy="1016000"/>
            </a:xfrm>
            <a:custGeom>
              <a:avLst/>
              <a:gdLst/>
              <a:ahLst/>
              <a:cxnLst/>
              <a:rect l="l" t="t" r="r" b="b"/>
              <a:pathLst>
                <a:path w="5120640" h="1016000">
                  <a:moveTo>
                    <a:pt x="5120640" y="2667"/>
                  </a:moveTo>
                  <a:lnTo>
                    <a:pt x="5120513" y="0"/>
                  </a:lnTo>
                  <a:lnTo>
                    <a:pt x="0" y="0"/>
                  </a:lnTo>
                  <a:lnTo>
                    <a:pt x="0" y="2667"/>
                  </a:lnTo>
                  <a:lnTo>
                    <a:pt x="0" y="1016000"/>
                  </a:lnTo>
                  <a:lnTo>
                    <a:pt x="5120640" y="1016000"/>
                  </a:lnTo>
                  <a:lnTo>
                    <a:pt x="5120640" y="2667"/>
                  </a:lnTo>
                  <a:close/>
                </a:path>
              </a:pathLst>
            </a:custGeom>
            <a:solidFill>
              <a:srgbClr val="484B50"/>
            </a:solidFill>
          </p:spPr>
        </p:sp>
      </p:grpSp>
      <p:grpSp>
        <p:nvGrpSpPr>
          <p:cNvPr id="24" name="Group 24"/>
          <p:cNvGrpSpPr/>
          <p:nvPr/>
        </p:nvGrpSpPr>
        <p:grpSpPr>
          <a:xfrm rot="0">
            <a:off x="6911130" y="6529483"/>
            <a:ext cx="337356" cy="399621"/>
            <a:chOff x="0" y="0"/>
            <a:chExt cx="449809" cy="53282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49834" cy="532765"/>
            </a:xfrm>
            <a:custGeom>
              <a:avLst/>
              <a:gdLst/>
              <a:ahLst/>
              <a:cxnLst/>
              <a:rect l="l" t="t" r="r" b="b"/>
              <a:pathLst>
                <a:path w="449834" h="532765">
                  <a:moveTo>
                    <a:pt x="0" y="0"/>
                  </a:moveTo>
                  <a:lnTo>
                    <a:pt x="449834" y="0"/>
                  </a:lnTo>
                  <a:lnTo>
                    <a:pt x="449834" y="532765"/>
                  </a:lnTo>
                  <a:lnTo>
                    <a:pt x="0" y="532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15" r="-110" b="-11"/>
              </a:stretch>
            </a:blipFill>
          </p:spPr>
        </p:sp>
      </p:grpSp>
      <p:sp>
        <p:nvSpPr>
          <p:cNvPr id="26" name="Freeform 26"/>
          <p:cNvSpPr/>
          <p:nvPr/>
        </p:nvSpPr>
        <p:spPr>
          <a:xfrm>
            <a:off x="5394960" y="8290579"/>
            <a:ext cx="2362200" cy="746760"/>
          </a:xfrm>
          <a:custGeom>
            <a:avLst/>
            <a:gdLst/>
            <a:ahLst/>
            <a:cxnLst/>
            <a:rect l="l" t="t" r="r" b="b"/>
            <a:pathLst>
              <a:path w="2362200" h="746760">
                <a:moveTo>
                  <a:pt x="0" y="0"/>
                </a:moveTo>
                <a:lnTo>
                  <a:pt x="2362200" y="0"/>
                </a:lnTo>
                <a:lnTo>
                  <a:pt x="2362200" y="746760"/>
                </a:lnTo>
                <a:lnTo>
                  <a:pt x="0" y="7467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5390588" y="7326430"/>
            <a:ext cx="3343656" cy="170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480" spc="-15">
                <a:solidFill>
                  <a:srgbClr val="D4D4D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math.h</a:t>
            </a:r>
            <a:endParaRPr lang="en-US" sz="2480" spc="-15">
              <a:solidFill>
                <a:srgbClr val="D4D4D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180"/>
              </a:lnSpc>
            </a:pPr>
            <a:r>
              <a:rPr lang="en-US" sz="2000" spc="-16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Mathematical functions such as sqrt(), pow(), sin(), and log()</a:t>
            </a:r>
            <a:endParaRPr lang="en-US" sz="2000" spc="-16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28" name="Group 28"/>
          <p:cNvGrpSpPr/>
          <p:nvPr/>
        </p:nvGrpSpPr>
        <p:grpSpPr>
          <a:xfrm rot="0">
            <a:off x="9281160" y="6339840"/>
            <a:ext cx="3870960" cy="3002280"/>
            <a:chOff x="0" y="0"/>
            <a:chExt cx="5161280" cy="40030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161153" cy="4002913"/>
            </a:xfrm>
            <a:custGeom>
              <a:avLst/>
              <a:gdLst/>
              <a:ahLst/>
              <a:cxnLst/>
              <a:rect l="l" t="t" r="r" b="b"/>
              <a:pathLst>
                <a:path w="5161153" h="4002913">
                  <a:moveTo>
                    <a:pt x="5145151" y="0"/>
                  </a:moveTo>
                  <a:lnTo>
                    <a:pt x="16129" y="0"/>
                  </a:lnTo>
                  <a:lnTo>
                    <a:pt x="10795" y="2159"/>
                  </a:lnTo>
                  <a:lnTo>
                    <a:pt x="2159" y="10795"/>
                  </a:lnTo>
                  <a:lnTo>
                    <a:pt x="0" y="16129"/>
                  </a:lnTo>
                  <a:lnTo>
                    <a:pt x="0" y="3980815"/>
                  </a:lnTo>
                  <a:lnTo>
                    <a:pt x="0" y="3986911"/>
                  </a:lnTo>
                  <a:lnTo>
                    <a:pt x="2159" y="3992118"/>
                  </a:lnTo>
                  <a:lnTo>
                    <a:pt x="10795" y="4000754"/>
                  </a:lnTo>
                  <a:lnTo>
                    <a:pt x="16002" y="4002913"/>
                  </a:lnTo>
                  <a:lnTo>
                    <a:pt x="5145151" y="4002913"/>
                  </a:lnTo>
                  <a:lnTo>
                    <a:pt x="5150358" y="4000754"/>
                  </a:lnTo>
                  <a:lnTo>
                    <a:pt x="5158994" y="3992118"/>
                  </a:lnTo>
                  <a:lnTo>
                    <a:pt x="5161153" y="3986911"/>
                  </a:lnTo>
                  <a:lnTo>
                    <a:pt x="5161153" y="16129"/>
                  </a:lnTo>
                  <a:lnTo>
                    <a:pt x="5158994" y="10922"/>
                  </a:lnTo>
                  <a:lnTo>
                    <a:pt x="5150358" y="2286"/>
                  </a:lnTo>
                  <a:lnTo>
                    <a:pt x="5145151" y="127"/>
                  </a:lnTo>
                  <a:close/>
                </a:path>
              </a:pathLst>
            </a:custGeom>
            <a:solidFill>
              <a:srgbClr val="292C31"/>
            </a:solidFill>
          </p:spPr>
        </p:sp>
      </p:grpSp>
      <p:sp>
        <p:nvSpPr>
          <p:cNvPr id="30" name="Freeform 30"/>
          <p:cNvSpPr/>
          <p:nvPr/>
        </p:nvSpPr>
        <p:spPr>
          <a:xfrm>
            <a:off x="9265920" y="6324600"/>
            <a:ext cx="3901440" cy="3032760"/>
          </a:xfrm>
          <a:custGeom>
            <a:avLst/>
            <a:gdLst/>
            <a:ahLst/>
            <a:cxnLst/>
            <a:rect l="l" t="t" r="r" b="b"/>
            <a:pathLst>
              <a:path w="3901440" h="3032760">
                <a:moveTo>
                  <a:pt x="0" y="0"/>
                </a:moveTo>
                <a:lnTo>
                  <a:pt x="3901440" y="0"/>
                </a:lnTo>
                <a:lnTo>
                  <a:pt x="3901440" y="3032760"/>
                </a:lnTo>
                <a:lnTo>
                  <a:pt x="0" y="3032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 rot="0">
            <a:off x="9296400" y="6354489"/>
            <a:ext cx="3840480" cy="762000"/>
            <a:chOff x="0" y="0"/>
            <a:chExt cx="5120640" cy="1016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120640" cy="1016000"/>
            </a:xfrm>
            <a:custGeom>
              <a:avLst/>
              <a:gdLst/>
              <a:ahLst/>
              <a:cxnLst/>
              <a:rect l="l" t="t" r="r" b="b"/>
              <a:pathLst>
                <a:path w="5120640" h="1016000">
                  <a:moveTo>
                    <a:pt x="5120640" y="2667"/>
                  </a:moveTo>
                  <a:lnTo>
                    <a:pt x="5120513" y="0"/>
                  </a:lnTo>
                  <a:lnTo>
                    <a:pt x="0" y="0"/>
                  </a:lnTo>
                  <a:lnTo>
                    <a:pt x="0" y="2667"/>
                  </a:lnTo>
                  <a:lnTo>
                    <a:pt x="0" y="1016000"/>
                  </a:lnTo>
                  <a:lnTo>
                    <a:pt x="5120640" y="1016000"/>
                  </a:lnTo>
                  <a:lnTo>
                    <a:pt x="5120640" y="2667"/>
                  </a:lnTo>
                  <a:close/>
                </a:path>
              </a:pathLst>
            </a:custGeom>
            <a:solidFill>
              <a:srgbClr val="484B50"/>
            </a:solidFill>
          </p:spPr>
        </p:sp>
      </p:grpSp>
      <p:grpSp>
        <p:nvGrpSpPr>
          <p:cNvPr id="33" name="Group 33"/>
          <p:cNvGrpSpPr/>
          <p:nvPr/>
        </p:nvGrpSpPr>
        <p:grpSpPr>
          <a:xfrm rot="0">
            <a:off x="11047419" y="6529549"/>
            <a:ext cx="324869" cy="399478"/>
            <a:chOff x="0" y="0"/>
            <a:chExt cx="433159" cy="53263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33197" cy="532638"/>
            </a:xfrm>
            <a:custGeom>
              <a:avLst/>
              <a:gdLst/>
              <a:ahLst/>
              <a:cxnLst/>
              <a:rect l="l" t="t" r="r" b="b"/>
              <a:pathLst>
                <a:path w="433197" h="532638">
                  <a:moveTo>
                    <a:pt x="0" y="0"/>
                  </a:moveTo>
                  <a:lnTo>
                    <a:pt x="433197" y="0"/>
                  </a:lnTo>
                  <a:lnTo>
                    <a:pt x="433197" y="532638"/>
                  </a:lnTo>
                  <a:lnTo>
                    <a:pt x="0" y="532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43" r="8" b="-340"/>
              </a:stretch>
            </a:blipFill>
          </p:spPr>
        </p:sp>
      </p:grpSp>
      <p:sp>
        <p:nvSpPr>
          <p:cNvPr id="35" name="Freeform 35"/>
          <p:cNvSpPr/>
          <p:nvPr/>
        </p:nvSpPr>
        <p:spPr>
          <a:xfrm>
            <a:off x="9525000" y="8290579"/>
            <a:ext cx="2788920" cy="746760"/>
          </a:xfrm>
          <a:custGeom>
            <a:avLst/>
            <a:gdLst/>
            <a:ahLst/>
            <a:cxnLst/>
            <a:rect l="l" t="t" r="r" b="b"/>
            <a:pathLst>
              <a:path w="2788920" h="746760">
                <a:moveTo>
                  <a:pt x="0" y="0"/>
                </a:moveTo>
                <a:lnTo>
                  <a:pt x="2788920" y="0"/>
                </a:lnTo>
                <a:lnTo>
                  <a:pt x="2788920" y="746760"/>
                </a:lnTo>
                <a:lnTo>
                  <a:pt x="0" y="7467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9523962" y="7326430"/>
            <a:ext cx="3331464" cy="170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480" spc="-15">
                <a:solidFill>
                  <a:srgbClr val="D4D4D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string.h</a:t>
            </a:r>
            <a:endParaRPr lang="en-US" sz="2480" spc="-15">
              <a:solidFill>
                <a:srgbClr val="D4D4D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180"/>
              </a:lnSpc>
            </a:pPr>
            <a:r>
              <a:rPr lang="en-US" sz="2000" spc="-16">
                <a:solidFill>
                  <a:srgbClr val="D4D4D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String manipulation with strlen(), strcpy(), strcat(), and strcmp()</a:t>
            </a:r>
            <a:endParaRPr lang="en-US" sz="2000" spc="-16">
              <a:solidFill>
                <a:srgbClr val="D4D4D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37" name="Group 37"/>
          <p:cNvGrpSpPr/>
          <p:nvPr/>
        </p:nvGrpSpPr>
        <p:grpSpPr>
          <a:xfrm rot="0">
            <a:off x="13411200" y="6339840"/>
            <a:ext cx="3870960" cy="3002280"/>
            <a:chOff x="0" y="0"/>
            <a:chExt cx="5161280" cy="40030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161153" cy="4002913"/>
            </a:xfrm>
            <a:custGeom>
              <a:avLst/>
              <a:gdLst/>
              <a:ahLst/>
              <a:cxnLst/>
              <a:rect l="l" t="t" r="r" b="b"/>
              <a:pathLst>
                <a:path w="5161153" h="4002913">
                  <a:moveTo>
                    <a:pt x="5145151" y="0"/>
                  </a:moveTo>
                  <a:lnTo>
                    <a:pt x="16129" y="0"/>
                  </a:lnTo>
                  <a:lnTo>
                    <a:pt x="10795" y="2159"/>
                  </a:lnTo>
                  <a:lnTo>
                    <a:pt x="2159" y="10795"/>
                  </a:lnTo>
                  <a:lnTo>
                    <a:pt x="0" y="16129"/>
                  </a:lnTo>
                  <a:lnTo>
                    <a:pt x="0" y="3980815"/>
                  </a:lnTo>
                  <a:lnTo>
                    <a:pt x="0" y="3986911"/>
                  </a:lnTo>
                  <a:lnTo>
                    <a:pt x="2159" y="3992118"/>
                  </a:lnTo>
                  <a:lnTo>
                    <a:pt x="10795" y="4000754"/>
                  </a:lnTo>
                  <a:lnTo>
                    <a:pt x="16002" y="4002913"/>
                  </a:lnTo>
                  <a:lnTo>
                    <a:pt x="5145151" y="4002913"/>
                  </a:lnTo>
                  <a:lnTo>
                    <a:pt x="5150358" y="4000754"/>
                  </a:lnTo>
                  <a:lnTo>
                    <a:pt x="5158994" y="3992118"/>
                  </a:lnTo>
                  <a:lnTo>
                    <a:pt x="5161153" y="3986911"/>
                  </a:lnTo>
                  <a:lnTo>
                    <a:pt x="5161153" y="16129"/>
                  </a:lnTo>
                  <a:lnTo>
                    <a:pt x="5158994" y="10922"/>
                  </a:lnTo>
                  <a:lnTo>
                    <a:pt x="5150358" y="2286"/>
                  </a:lnTo>
                  <a:lnTo>
                    <a:pt x="5145151" y="127"/>
                  </a:lnTo>
                  <a:close/>
                </a:path>
              </a:pathLst>
            </a:custGeom>
            <a:solidFill>
              <a:srgbClr val="292C31"/>
            </a:solidFill>
          </p:spPr>
        </p:sp>
      </p:grpSp>
      <p:sp>
        <p:nvSpPr>
          <p:cNvPr id="39" name="Freeform 39"/>
          <p:cNvSpPr/>
          <p:nvPr/>
        </p:nvSpPr>
        <p:spPr>
          <a:xfrm>
            <a:off x="13395960" y="6324600"/>
            <a:ext cx="3901440" cy="3032760"/>
          </a:xfrm>
          <a:custGeom>
            <a:avLst/>
            <a:gdLst/>
            <a:ahLst/>
            <a:cxnLst/>
            <a:rect l="l" t="t" r="r" b="b"/>
            <a:pathLst>
              <a:path w="3901440" h="3032760">
                <a:moveTo>
                  <a:pt x="0" y="0"/>
                </a:moveTo>
                <a:lnTo>
                  <a:pt x="3901440" y="0"/>
                </a:lnTo>
                <a:lnTo>
                  <a:pt x="3901440" y="3032760"/>
                </a:lnTo>
                <a:lnTo>
                  <a:pt x="0" y="3032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0" name="Group 40"/>
          <p:cNvGrpSpPr/>
          <p:nvPr/>
        </p:nvGrpSpPr>
        <p:grpSpPr>
          <a:xfrm rot="0">
            <a:off x="13426440" y="6354489"/>
            <a:ext cx="3840480" cy="762000"/>
            <a:chOff x="0" y="0"/>
            <a:chExt cx="5120640" cy="1016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120640" cy="1016000"/>
            </a:xfrm>
            <a:custGeom>
              <a:avLst/>
              <a:gdLst/>
              <a:ahLst/>
              <a:cxnLst/>
              <a:rect l="l" t="t" r="r" b="b"/>
              <a:pathLst>
                <a:path w="5120640" h="1016000">
                  <a:moveTo>
                    <a:pt x="5120640" y="2667"/>
                  </a:moveTo>
                  <a:lnTo>
                    <a:pt x="5120513" y="0"/>
                  </a:lnTo>
                  <a:lnTo>
                    <a:pt x="0" y="0"/>
                  </a:lnTo>
                  <a:lnTo>
                    <a:pt x="0" y="2667"/>
                  </a:lnTo>
                  <a:lnTo>
                    <a:pt x="0" y="1016000"/>
                  </a:lnTo>
                  <a:lnTo>
                    <a:pt x="5120640" y="1016000"/>
                  </a:lnTo>
                  <a:lnTo>
                    <a:pt x="5120640" y="2667"/>
                  </a:lnTo>
                  <a:close/>
                </a:path>
              </a:pathLst>
            </a:custGeom>
            <a:solidFill>
              <a:srgbClr val="484B50"/>
            </a:solidFill>
          </p:spPr>
        </p:sp>
      </p:grpSp>
      <p:grpSp>
        <p:nvGrpSpPr>
          <p:cNvPr id="42" name="Group 42"/>
          <p:cNvGrpSpPr/>
          <p:nvPr/>
        </p:nvGrpSpPr>
        <p:grpSpPr>
          <a:xfrm rot="0">
            <a:off x="15204415" y="6537960"/>
            <a:ext cx="270643" cy="391220"/>
            <a:chOff x="0" y="0"/>
            <a:chExt cx="360858" cy="52162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0807" cy="521589"/>
            </a:xfrm>
            <a:custGeom>
              <a:avLst/>
              <a:gdLst/>
              <a:ahLst/>
              <a:cxnLst/>
              <a:rect l="l" t="t" r="r" b="b"/>
              <a:pathLst>
                <a:path w="360807" h="521589">
                  <a:moveTo>
                    <a:pt x="0" y="0"/>
                  </a:moveTo>
                  <a:lnTo>
                    <a:pt x="360807" y="0"/>
                  </a:lnTo>
                  <a:lnTo>
                    <a:pt x="360807" y="521589"/>
                  </a:lnTo>
                  <a:lnTo>
                    <a:pt x="0" y="521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017" r="-1034" b="-7"/>
              </a:stretch>
            </a:blipFill>
          </p:spPr>
        </p:sp>
      </p:grpSp>
      <p:sp>
        <p:nvSpPr>
          <p:cNvPr id="44" name="Freeform 44"/>
          <p:cNvSpPr/>
          <p:nvPr/>
        </p:nvSpPr>
        <p:spPr>
          <a:xfrm>
            <a:off x="13670280" y="8290579"/>
            <a:ext cx="3200400" cy="746760"/>
          </a:xfrm>
          <a:custGeom>
            <a:avLst/>
            <a:gdLst/>
            <a:ahLst/>
            <a:cxnLst/>
            <a:rect l="l" t="t" r="r" b="b"/>
            <a:pathLst>
              <a:path w="3200400" h="746760">
                <a:moveTo>
                  <a:pt x="0" y="0"/>
                </a:moveTo>
                <a:lnTo>
                  <a:pt x="3200400" y="0"/>
                </a:lnTo>
                <a:lnTo>
                  <a:pt x="3200400" y="746760"/>
                </a:lnTo>
                <a:lnTo>
                  <a:pt x="0" y="7467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3657088" y="7326430"/>
            <a:ext cx="3276600" cy="170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480" spc="-15">
                <a:solidFill>
                  <a:srgbClr val="D4D4D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ctype.h</a:t>
            </a:r>
            <a:endParaRPr lang="en-US" sz="2480" spc="-15">
              <a:solidFill>
                <a:srgbClr val="D4D4D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180"/>
              </a:lnSpc>
            </a:pPr>
            <a:r>
              <a:rPr lang="en-US" sz="2000" spc="-13">
                <a:solidFill>
                  <a:srgbClr val="D4D4D1"/>
                </a:solidFill>
                <a:latin typeface="Tomorrow"/>
                <a:ea typeface="Tomorrow"/>
                <a:cs typeface="Tomorrow"/>
                <a:sym typeface="Tomorrow"/>
              </a:rPr>
              <a:t>Character handling like isalpha(), isdigit(), toupper(), and tolower()</a:t>
            </a:r>
            <a:endParaRPr lang="en-US" sz="2000" spc="-13">
              <a:solidFill>
                <a:srgbClr val="D4D4D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grpSp>
        <p:nvGrpSpPr>
          <p:cNvPr id="46" name="Group 46"/>
          <p:cNvGrpSpPr/>
          <p:nvPr/>
        </p:nvGrpSpPr>
        <p:grpSpPr>
          <a:xfrm rot="0">
            <a:off x="15328392" y="9481718"/>
            <a:ext cx="2807208" cy="670560"/>
            <a:chOff x="0" y="0"/>
            <a:chExt cx="3742944" cy="8940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742944" cy="894080"/>
            </a:xfrm>
            <a:custGeom>
              <a:avLst/>
              <a:gdLst/>
              <a:ahLst/>
              <a:cxnLst/>
              <a:rect l="l" t="t" r="r" b="b"/>
              <a:pathLst>
                <a:path w="3742944" h="894080">
                  <a:moveTo>
                    <a:pt x="0" y="0"/>
                  </a:moveTo>
                  <a:lnTo>
                    <a:pt x="3742944" y="0"/>
                  </a:lnTo>
                  <a:lnTo>
                    <a:pt x="3742944" y="894080"/>
                  </a:lnTo>
                  <a:lnTo>
                    <a:pt x="0" y="894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 rot="0">
            <a:off x="15341594" y="9532515"/>
            <a:ext cx="2824477" cy="650243"/>
            <a:chOff x="0" y="0"/>
            <a:chExt cx="3765969" cy="86699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765931" cy="867029"/>
            </a:xfrm>
            <a:custGeom>
              <a:avLst/>
              <a:gdLst/>
              <a:ahLst/>
              <a:cxnLst/>
              <a:rect l="l" t="t" r="r" b="b"/>
              <a:pathLst>
                <a:path w="3765931" h="867029">
                  <a:moveTo>
                    <a:pt x="3765931" y="0"/>
                  </a:moveTo>
                  <a:lnTo>
                    <a:pt x="0" y="0"/>
                  </a:lnTo>
                  <a:lnTo>
                    <a:pt x="0" y="867029"/>
                  </a:lnTo>
                  <a:lnTo>
                    <a:pt x="3765931" y="867029"/>
                  </a:lnTo>
                  <a:lnTo>
                    <a:pt x="3765931" y="0"/>
                  </a:lnTo>
                  <a:close/>
                </a:path>
              </a:pathLst>
            </a:custGeom>
            <a:solidFill>
              <a:srgbClr val="282B31"/>
            </a:solid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1524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292B32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71941" y="941127"/>
            <a:ext cx="16344119" cy="71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5"/>
              </a:lnSpc>
            </a:pPr>
            <a:r>
              <a:rPr lang="en-US" sz="3920" spc="112">
                <a:solidFill>
                  <a:srgbClr val="F2F2F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Functions in Real-World C Applications</a:t>
            </a:r>
            <a:endParaRPr lang="en-US" sz="3920" spc="112">
              <a:solidFill>
                <a:srgbClr val="F2F2F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71941" y="1846936"/>
            <a:ext cx="16261080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520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 funсtiоnз are the bedrосk fоr building rоbuзt, effiсient, and зсalable зоftware aсrозз diverзe induзtrieз. They enable соmplex зyзtemз tо оperate by breaking dоwn large prоblemз intо manageable, reuзable соmpоnentз.</a:t>
            </a:r>
            <a:endParaRPr lang="en-US" sz="1520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980275" y="2583580"/>
            <a:ext cx="506349" cy="508597"/>
            <a:chOff x="0" y="0"/>
            <a:chExt cx="675132" cy="6781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5132" cy="678180"/>
            </a:xfrm>
            <a:custGeom>
              <a:avLst/>
              <a:gdLst/>
              <a:ahLst/>
              <a:cxnLst/>
              <a:rect l="l" t="t" r="r" b="b"/>
              <a:pathLst>
                <a:path w="675132" h="678180">
                  <a:moveTo>
                    <a:pt x="0" y="0"/>
                  </a:moveTo>
                  <a:lnTo>
                    <a:pt x="675132" y="0"/>
                  </a:lnTo>
                  <a:lnTo>
                    <a:pt x="675132" y="678180"/>
                  </a:lnTo>
                  <a:lnTo>
                    <a:pt x="0" y="678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221" r="-221" b="7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71950" y="3194599"/>
            <a:ext cx="5316722" cy="152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920" spc="72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Embedded Systems</a:t>
            </a:r>
            <a:endParaRPr lang="en-US" sz="1920" spc="72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2120"/>
              </a:lnSpc>
            </a:pPr>
            <a:r>
              <a:rPr lang="en-US" sz="1520" spc="56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Funсtiоnз соntrоl hardware, prосeзз зenзоr data, and manage real-time taзkз in miсrосоntrоllerз, IоT deviсeз, and autоmоtive зyзtemз, enзuring prediсtable and effiсient оperatiоn.</a:t>
            </a:r>
            <a:endParaRPr lang="en-US" sz="1520" spc="56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6494135" y="2579846"/>
            <a:ext cx="481384" cy="506997"/>
            <a:chOff x="0" y="0"/>
            <a:chExt cx="641845" cy="6759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1858" cy="676021"/>
            </a:xfrm>
            <a:custGeom>
              <a:avLst/>
              <a:gdLst/>
              <a:ahLst/>
              <a:cxnLst/>
              <a:rect l="l" t="t" r="r" b="b"/>
              <a:pathLst>
                <a:path w="641858" h="676021">
                  <a:moveTo>
                    <a:pt x="0" y="0"/>
                  </a:moveTo>
                  <a:lnTo>
                    <a:pt x="641858" y="0"/>
                  </a:lnTo>
                  <a:lnTo>
                    <a:pt x="641858" y="676021"/>
                  </a:lnTo>
                  <a:lnTo>
                    <a:pt x="0" y="676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88" r="1" b="-48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6494135" y="2825258"/>
            <a:ext cx="492376" cy="272920"/>
            <a:chOff x="0" y="0"/>
            <a:chExt cx="656501" cy="363893"/>
          </a:xfrm>
        </p:grpSpPr>
        <p:sp>
          <p:nvSpPr>
            <p:cNvPr id="12" name="Freeform 12"/>
            <p:cNvSpPr/>
            <p:nvPr/>
          </p:nvSpPr>
          <p:spPr>
            <a:xfrm>
              <a:off x="14605" y="334010"/>
              <a:ext cx="627253" cy="29464"/>
            </a:xfrm>
            <a:custGeom>
              <a:avLst/>
              <a:gdLst/>
              <a:ahLst/>
              <a:cxnLst/>
              <a:rect l="l" t="t" r="r" b="b"/>
              <a:pathLst>
                <a:path w="627253" h="29464">
                  <a:moveTo>
                    <a:pt x="0" y="127"/>
                  </a:moveTo>
                  <a:lnTo>
                    <a:pt x="627253" y="0"/>
                  </a:lnTo>
                  <a:lnTo>
                    <a:pt x="627253" y="29337"/>
                  </a:lnTo>
                  <a:lnTo>
                    <a:pt x="0" y="29464"/>
                  </a:lnTo>
                  <a:close/>
                </a:path>
              </a:pathLst>
            </a:custGeom>
            <a:solidFill>
              <a:srgbClr val="FFBC8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53238" y="-47"/>
              <a:ext cx="86487" cy="60499"/>
            </a:xfrm>
            <a:custGeom>
              <a:avLst/>
              <a:gdLst/>
              <a:ahLst/>
              <a:cxnLst/>
              <a:rect l="l" t="t" r="r" b="b"/>
              <a:pathLst>
                <a:path w="86487" h="60499">
                  <a:moveTo>
                    <a:pt x="72898" y="60499"/>
                  </a:moveTo>
                  <a:lnTo>
                    <a:pt x="10033" y="27733"/>
                  </a:lnTo>
                  <a:lnTo>
                    <a:pt x="16764" y="14779"/>
                  </a:lnTo>
                  <a:lnTo>
                    <a:pt x="18923" y="29257"/>
                  </a:lnTo>
                  <a:lnTo>
                    <a:pt x="4191" y="31416"/>
                  </a:lnTo>
                  <a:lnTo>
                    <a:pt x="0" y="2333"/>
                  </a:lnTo>
                  <a:lnTo>
                    <a:pt x="14732" y="174"/>
                  </a:lnTo>
                  <a:cubicBezTo>
                    <a:pt x="17780" y="-334"/>
                    <a:pt x="20955" y="301"/>
                    <a:pt x="23622" y="1698"/>
                  </a:cubicBezTo>
                  <a:lnTo>
                    <a:pt x="86487" y="34464"/>
                  </a:lnTo>
                  <a:close/>
                </a:path>
              </a:pathLst>
            </a:custGeom>
            <a:solidFill>
              <a:srgbClr val="FFBC8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54178" y="1524"/>
              <a:ext cx="101092" cy="29337"/>
            </a:xfrm>
            <a:custGeom>
              <a:avLst/>
              <a:gdLst/>
              <a:ahLst/>
              <a:cxnLst/>
              <a:rect l="l" t="t" r="r" b="b"/>
              <a:pathLst>
                <a:path w="101092" h="29337">
                  <a:moveTo>
                    <a:pt x="101092" y="29337"/>
                  </a:moveTo>
                  <a:lnTo>
                    <a:pt x="0" y="29337"/>
                  </a:lnTo>
                  <a:lnTo>
                    <a:pt x="0" y="0"/>
                  </a:lnTo>
                  <a:lnTo>
                    <a:pt x="101092" y="0"/>
                  </a:lnTo>
                  <a:close/>
                </a:path>
              </a:pathLst>
            </a:custGeom>
            <a:solidFill>
              <a:srgbClr val="FFBC8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39878" y="147955"/>
              <a:ext cx="29337" cy="121158"/>
            </a:xfrm>
            <a:custGeom>
              <a:avLst/>
              <a:gdLst/>
              <a:ahLst/>
              <a:cxnLst/>
              <a:rect l="l" t="t" r="r" b="b"/>
              <a:pathLst>
                <a:path w="29337" h="121158">
                  <a:moveTo>
                    <a:pt x="29337" y="0"/>
                  </a:moveTo>
                  <a:lnTo>
                    <a:pt x="29337" y="121158"/>
                  </a:lnTo>
                  <a:lnTo>
                    <a:pt x="0" y="1211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C8F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6464360" y="3194609"/>
            <a:ext cx="4975355" cy="152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920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Operating Systems</a:t>
            </a:r>
            <a:endParaRPr lang="en-US" sz="1920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2120"/>
              </a:lnSpc>
            </a:pPr>
            <a:r>
              <a:rPr lang="en-US" sz="1520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Cоre kernel funсtiоnalitieз like memоry management, prосeзз зсheduling, and deviсe driverз are зtruсtured aз funсtiоnз, prоviding the eззential зerviсeз fоr all оther зоftware.</a:t>
            </a:r>
            <a:endParaRPr lang="en-US" sz="1520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7" name="Group 17"/>
          <p:cNvGrpSpPr/>
          <p:nvPr/>
        </p:nvGrpSpPr>
        <p:grpSpPr>
          <a:xfrm rot="0">
            <a:off x="11967782" y="2670086"/>
            <a:ext cx="518008" cy="337423"/>
            <a:chOff x="0" y="0"/>
            <a:chExt cx="690677" cy="44989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0626" cy="449834"/>
            </a:xfrm>
            <a:custGeom>
              <a:avLst/>
              <a:gdLst/>
              <a:ahLst/>
              <a:cxnLst/>
              <a:rect l="l" t="t" r="r" b="b"/>
              <a:pathLst>
                <a:path w="690626" h="449834">
                  <a:moveTo>
                    <a:pt x="0" y="0"/>
                  </a:moveTo>
                  <a:lnTo>
                    <a:pt x="690626" y="0"/>
                  </a:lnTo>
                  <a:lnTo>
                    <a:pt x="690626" y="449834"/>
                  </a:lnTo>
                  <a:lnTo>
                    <a:pt x="0" y="449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4" r="-342" b="-14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1956799" y="3194571"/>
            <a:ext cx="5316722" cy="125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920" spc="-16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Game Development</a:t>
            </a:r>
            <a:endParaRPr lang="en-US" sz="1920" spc="-16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2100"/>
              </a:lnSpc>
            </a:pPr>
            <a:r>
              <a:rPr lang="en-US" sz="1520" spc="-12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Phyзiсз engineз, rendering pipelineз, AI lоgiс, and uзer input handling are all implemented aз funсtiоnз tо manage intriсate game meсhaniсз and viзual effeсtз.</a:t>
            </a:r>
            <a:endParaRPr lang="en-US" sz="1520" spc="-12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20" name="Group 20"/>
          <p:cNvGrpSpPr/>
          <p:nvPr/>
        </p:nvGrpSpPr>
        <p:grpSpPr>
          <a:xfrm rot="0">
            <a:off x="1015422" y="5003006"/>
            <a:ext cx="446465" cy="517846"/>
            <a:chOff x="0" y="0"/>
            <a:chExt cx="595287" cy="69046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95249" cy="690499"/>
            </a:xfrm>
            <a:custGeom>
              <a:avLst/>
              <a:gdLst/>
              <a:ahLst/>
              <a:cxnLst/>
              <a:rect l="l" t="t" r="r" b="b"/>
              <a:pathLst>
                <a:path w="595249" h="690499">
                  <a:moveTo>
                    <a:pt x="0" y="0"/>
                  </a:moveTo>
                  <a:lnTo>
                    <a:pt x="595249" y="0"/>
                  </a:lnTo>
                  <a:lnTo>
                    <a:pt x="595249" y="690499"/>
                  </a:lnTo>
                  <a:lnTo>
                    <a:pt x="0" y="690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7" r="-326" b="5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971988" y="5617750"/>
            <a:ext cx="5296405" cy="125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920" spc="16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Database Systems</a:t>
            </a:r>
            <a:endParaRPr lang="en-US" sz="1920" spc="16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2100"/>
              </a:lnSpc>
            </a:pPr>
            <a:r>
              <a:rPr lang="en-US" sz="1520" spc="12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Funсtiоnз are uзed fоr data manipulatiоn, query prосeззing, indexing, and tranзaсtiоn management, enзuring data integrity and оptimizing retrieval perfоrmanсe.</a:t>
            </a:r>
            <a:endParaRPr lang="en-US" sz="1520" spc="12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6481391" y="5005483"/>
            <a:ext cx="518798" cy="513721"/>
          </a:xfrm>
          <a:custGeom>
            <a:avLst/>
            <a:gdLst/>
            <a:ahLst/>
            <a:cxnLst/>
            <a:rect l="l" t="t" r="r" b="b"/>
            <a:pathLst>
              <a:path w="518798" h="513721">
                <a:moveTo>
                  <a:pt x="0" y="0"/>
                </a:moveTo>
                <a:lnTo>
                  <a:pt x="518798" y="0"/>
                </a:lnTo>
                <a:lnTo>
                  <a:pt x="518798" y="513721"/>
                </a:lnTo>
                <a:lnTo>
                  <a:pt x="0" y="5137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6464427" y="5617740"/>
            <a:ext cx="4654296" cy="152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920" spc="-16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Compilers &amp; Interpreters</a:t>
            </a:r>
            <a:endParaRPr lang="en-US" sz="1920" spc="-16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2120"/>
              </a:lnSpc>
            </a:pPr>
            <a:r>
              <a:rPr lang="en-US" sz="1520" spc="-12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The зtageз оf language prосeззing—lexiсal analyзiз, parзing, and соde generatiоn—are mоdularized intо funсtiоnз, tranзlating high-level соde intо maсhine inзtruсtiоnз.</a:t>
            </a:r>
            <a:endParaRPr lang="en-US" sz="1520" spc="-12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25" name="Group 25"/>
          <p:cNvGrpSpPr/>
          <p:nvPr/>
        </p:nvGrpSpPr>
        <p:grpSpPr>
          <a:xfrm rot="0">
            <a:off x="11967962" y="5462797"/>
            <a:ext cx="53464" cy="41272"/>
            <a:chOff x="0" y="0"/>
            <a:chExt cx="71285" cy="55029"/>
          </a:xfrm>
        </p:grpSpPr>
        <p:sp>
          <p:nvSpPr>
            <p:cNvPr id="26" name="Freeform 26"/>
            <p:cNvSpPr/>
            <p:nvPr/>
          </p:nvSpPr>
          <p:spPr>
            <a:xfrm>
              <a:off x="3556" y="5207"/>
              <a:ext cx="52832" cy="49911"/>
            </a:xfrm>
            <a:custGeom>
              <a:avLst/>
              <a:gdLst/>
              <a:ahLst/>
              <a:cxnLst/>
              <a:rect l="l" t="t" r="r" b="b"/>
              <a:pathLst>
                <a:path w="52832" h="49911">
                  <a:moveTo>
                    <a:pt x="22225" y="0"/>
                  </a:moveTo>
                  <a:lnTo>
                    <a:pt x="43942" y="25527"/>
                  </a:lnTo>
                  <a:lnTo>
                    <a:pt x="32766" y="35052"/>
                  </a:lnTo>
                  <a:lnTo>
                    <a:pt x="32893" y="20447"/>
                  </a:lnTo>
                  <a:lnTo>
                    <a:pt x="52832" y="20574"/>
                  </a:lnTo>
                  <a:lnTo>
                    <a:pt x="52578" y="49911"/>
                  </a:lnTo>
                  <a:lnTo>
                    <a:pt x="32639" y="49784"/>
                  </a:lnTo>
                  <a:cubicBezTo>
                    <a:pt x="28448" y="49784"/>
                    <a:pt x="24384" y="47879"/>
                    <a:pt x="21590" y="44577"/>
                  </a:cubicBezTo>
                  <a:lnTo>
                    <a:pt x="0" y="18923"/>
                  </a:lnTo>
                  <a:close/>
                </a:path>
              </a:pathLst>
            </a:custGeom>
            <a:solidFill>
              <a:srgbClr val="FFBC8F"/>
            </a:solidFill>
          </p:spPr>
        </p:sp>
      </p:grpSp>
      <p:grpSp>
        <p:nvGrpSpPr>
          <p:cNvPr id="27" name="Group 27"/>
          <p:cNvGrpSpPr/>
          <p:nvPr/>
        </p:nvGrpSpPr>
        <p:grpSpPr>
          <a:xfrm rot="0">
            <a:off x="12163558" y="5054870"/>
            <a:ext cx="319249" cy="248269"/>
            <a:chOff x="0" y="0"/>
            <a:chExt cx="425666" cy="33102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25704" cy="330962"/>
            </a:xfrm>
            <a:custGeom>
              <a:avLst/>
              <a:gdLst/>
              <a:ahLst/>
              <a:cxnLst/>
              <a:rect l="l" t="t" r="r" b="b"/>
              <a:pathLst>
                <a:path w="425704" h="330962">
                  <a:moveTo>
                    <a:pt x="0" y="0"/>
                  </a:moveTo>
                  <a:lnTo>
                    <a:pt x="425704" y="0"/>
                  </a:lnTo>
                  <a:lnTo>
                    <a:pt x="425704" y="330962"/>
                  </a:lnTo>
                  <a:lnTo>
                    <a:pt x="0" y="330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518" r="8" b="-537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 rot="0">
            <a:off x="11967905" y="5019885"/>
            <a:ext cx="518798" cy="484251"/>
            <a:chOff x="0" y="0"/>
            <a:chExt cx="691731" cy="645668"/>
          </a:xfrm>
        </p:grpSpPr>
        <p:sp>
          <p:nvSpPr>
            <p:cNvPr id="30" name="Freeform 30"/>
            <p:cNvSpPr/>
            <p:nvPr/>
          </p:nvSpPr>
          <p:spPr>
            <a:xfrm>
              <a:off x="0" y="14605"/>
              <a:ext cx="29464" cy="590550"/>
            </a:xfrm>
            <a:custGeom>
              <a:avLst/>
              <a:gdLst/>
              <a:ahLst/>
              <a:cxnLst/>
              <a:rect l="l" t="t" r="r" b="b"/>
              <a:pathLst>
                <a:path w="29464" h="590550">
                  <a:moveTo>
                    <a:pt x="29337" y="0"/>
                  </a:moveTo>
                  <a:lnTo>
                    <a:pt x="29464" y="590550"/>
                  </a:lnTo>
                  <a:lnTo>
                    <a:pt x="127" y="590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C8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83566" y="309118"/>
              <a:ext cx="209169" cy="216408"/>
            </a:xfrm>
            <a:custGeom>
              <a:avLst/>
              <a:gdLst/>
              <a:ahLst/>
              <a:cxnLst/>
              <a:rect l="l" t="t" r="r" b="b"/>
              <a:pathLst>
                <a:path w="209169" h="216408">
                  <a:moveTo>
                    <a:pt x="0" y="196088"/>
                  </a:moveTo>
                  <a:lnTo>
                    <a:pt x="188087" y="0"/>
                  </a:lnTo>
                  <a:lnTo>
                    <a:pt x="209169" y="20320"/>
                  </a:lnTo>
                  <a:lnTo>
                    <a:pt x="21082" y="216408"/>
                  </a:lnTo>
                  <a:close/>
                </a:path>
              </a:pathLst>
            </a:custGeom>
            <a:solidFill>
              <a:srgbClr val="FFBC8F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56515" y="616204"/>
              <a:ext cx="619506" cy="29337"/>
            </a:xfrm>
            <a:custGeom>
              <a:avLst/>
              <a:gdLst/>
              <a:ahLst/>
              <a:cxnLst/>
              <a:rect l="l" t="t" r="r" b="b"/>
              <a:pathLst>
                <a:path w="619506" h="29337">
                  <a:moveTo>
                    <a:pt x="0" y="0"/>
                  </a:moveTo>
                  <a:lnTo>
                    <a:pt x="619506" y="0"/>
                  </a:lnTo>
                  <a:lnTo>
                    <a:pt x="619506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FFBC8F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1956923" y="5617721"/>
            <a:ext cx="4859531" cy="125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920" spc="32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Financial Software</a:t>
            </a:r>
            <a:endParaRPr lang="en-US" sz="1920" spc="32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2100"/>
              </a:lnSpc>
            </a:pPr>
            <a:r>
              <a:rPr lang="en-US" sz="1520" spc="25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Cоmplex сalсulatiоnз fоr intereзt, riзk aззeззment, tranзaсtiоn prосeззing, and pоrtfоliо management rely heavily оn preсiзe, reuзable funсtiоnз.</a:t>
            </a:r>
            <a:endParaRPr lang="en-US" sz="1520" spc="25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34" name="Group 34"/>
          <p:cNvGrpSpPr/>
          <p:nvPr/>
        </p:nvGrpSpPr>
        <p:grpSpPr>
          <a:xfrm rot="0">
            <a:off x="979437" y="7476706"/>
            <a:ext cx="517998" cy="417062"/>
            <a:chOff x="0" y="0"/>
            <a:chExt cx="690664" cy="55608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90626" cy="556133"/>
            </a:xfrm>
            <a:custGeom>
              <a:avLst/>
              <a:gdLst/>
              <a:ahLst/>
              <a:cxnLst/>
              <a:rect l="l" t="t" r="r" b="b"/>
              <a:pathLst>
                <a:path w="690626" h="556133">
                  <a:moveTo>
                    <a:pt x="0" y="0"/>
                  </a:moveTo>
                  <a:lnTo>
                    <a:pt x="690626" y="0"/>
                  </a:lnTo>
                  <a:lnTo>
                    <a:pt x="690626" y="556133"/>
                  </a:lnTo>
                  <a:lnTo>
                    <a:pt x="0" y="556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228" r="-5" b="-219"/>
              </a:stretch>
            </a:blipFill>
          </p:spPr>
        </p:sp>
      </p:grpSp>
      <p:sp>
        <p:nvSpPr>
          <p:cNvPr id="36" name="TextBox 36"/>
          <p:cNvSpPr txBox="1"/>
          <p:nvPr/>
        </p:nvSpPr>
        <p:spPr>
          <a:xfrm>
            <a:off x="971769" y="8047968"/>
            <a:ext cx="5239512" cy="1248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920" spc="16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Graphics &amp; Image Processing</a:t>
            </a:r>
            <a:endParaRPr lang="en-US" sz="1920" spc="16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2160"/>
              </a:lnSpc>
            </a:pPr>
            <a:r>
              <a:rPr lang="en-US" sz="1520" spc="12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Algоrithmз fоr image filterз, tranзfоrmatiоnз, соmpreззiоn, and rendering are enсapзulated in funсtiоnз, enabling pоwerful viзual editing and diзplay appliсatiоnз.</a:t>
            </a:r>
            <a:endParaRPr lang="en-US" sz="1520" spc="12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37" name="Group 37"/>
          <p:cNvGrpSpPr/>
          <p:nvPr/>
        </p:nvGrpSpPr>
        <p:grpSpPr>
          <a:xfrm rot="0">
            <a:off x="15328716" y="9481871"/>
            <a:ext cx="2807313" cy="670579"/>
            <a:chOff x="0" y="0"/>
            <a:chExt cx="3743084" cy="89410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743071" cy="894080"/>
            </a:xfrm>
            <a:custGeom>
              <a:avLst/>
              <a:gdLst/>
              <a:ahLst/>
              <a:cxnLst/>
              <a:rect l="l" t="t" r="r" b="b"/>
              <a:pathLst>
                <a:path w="3743071" h="894080">
                  <a:moveTo>
                    <a:pt x="0" y="0"/>
                  </a:moveTo>
                  <a:lnTo>
                    <a:pt x="3743071" y="0"/>
                  </a:lnTo>
                  <a:lnTo>
                    <a:pt x="3743071" y="894080"/>
                  </a:lnTo>
                  <a:lnTo>
                    <a:pt x="0" y="894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4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 rot="0">
            <a:off x="15341594" y="9532515"/>
            <a:ext cx="2824477" cy="650243"/>
            <a:chOff x="0" y="0"/>
            <a:chExt cx="3765969" cy="866991"/>
          </a:xfrm>
        </p:grpSpPr>
        <p:sp>
          <p:nvSpPr>
            <p:cNvPr id="40" name="Freeform 40"/>
            <p:cNvSpPr/>
            <p:nvPr/>
          </p:nvSpPr>
          <p:spPr>
            <a:xfrm>
              <a:off x="0" y="-127"/>
              <a:ext cx="3765931" cy="866902"/>
            </a:xfrm>
            <a:custGeom>
              <a:avLst/>
              <a:gdLst/>
              <a:ahLst/>
              <a:cxnLst/>
              <a:rect l="l" t="t" r="r" b="b"/>
              <a:pathLst>
                <a:path w="3765931" h="866902">
                  <a:moveTo>
                    <a:pt x="3765931" y="0"/>
                  </a:moveTo>
                  <a:lnTo>
                    <a:pt x="0" y="0"/>
                  </a:lnTo>
                  <a:lnTo>
                    <a:pt x="0" y="866902"/>
                  </a:lnTo>
                  <a:lnTo>
                    <a:pt x="3765931" y="866902"/>
                  </a:lnTo>
                  <a:lnTo>
                    <a:pt x="3765931" y="0"/>
                  </a:lnTo>
                  <a:close/>
                </a:path>
              </a:pathLst>
            </a:custGeom>
            <a:solidFill>
              <a:srgbClr val="282B31"/>
            </a:solid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1524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292B32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71941" y="1452134"/>
            <a:ext cx="4965192" cy="8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520" spc="88">
                <a:solidFill>
                  <a:srgbClr val="F2F2F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Key Takeaways</a:t>
            </a:r>
            <a:endParaRPr lang="en-US" sz="5520" spc="88">
              <a:solidFill>
                <a:srgbClr val="F2F2F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990590" y="2910869"/>
            <a:ext cx="640080" cy="640080"/>
            <a:chOff x="0" y="0"/>
            <a:chExt cx="853440" cy="8534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812419" y="853440"/>
                  </a:moveTo>
                  <a:lnTo>
                    <a:pt x="41021" y="853440"/>
                  </a:lnTo>
                  <a:lnTo>
                    <a:pt x="35052" y="852297"/>
                  </a:lnTo>
                  <a:lnTo>
                    <a:pt x="0" y="812419"/>
                  </a:lnTo>
                  <a:lnTo>
                    <a:pt x="0" y="806196"/>
                  </a:lnTo>
                  <a:lnTo>
                    <a:pt x="0" y="41021"/>
                  </a:lnTo>
                  <a:lnTo>
                    <a:pt x="41021" y="0"/>
                  </a:lnTo>
                  <a:lnTo>
                    <a:pt x="812419" y="0"/>
                  </a:lnTo>
                  <a:lnTo>
                    <a:pt x="853440" y="41021"/>
                  </a:lnTo>
                  <a:lnTo>
                    <a:pt x="853440" y="812419"/>
                  </a:lnTo>
                  <a:lnTo>
                    <a:pt x="818515" y="852170"/>
                  </a:lnTo>
                  <a:lnTo>
                    <a:pt x="812546" y="853313"/>
                  </a:lnTo>
                  <a:close/>
                </a:path>
              </a:pathLst>
            </a:custGeom>
            <a:solidFill>
              <a:srgbClr val="484A50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893246" y="2989621"/>
            <a:ext cx="7081523" cy="191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72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Functions make code modular</a:t>
            </a:r>
            <a:endParaRPr lang="en-US" sz="2800" spc="72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540"/>
              </a:lnSpc>
            </a:pPr>
            <a:r>
              <a:rPr lang="en-US" sz="2240" spc="-16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Break complex programs into smaller, focused units that each handle one specific task. This improves clarity and reduces cognitive load.</a:t>
            </a:r>
            <a:endParaRPr lang="en-US" sz="2240" spc="-16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9326832" y="2910859"/>
            <a:ext cx="624840" cy="640080"/>
            <a:chOff x="0" y="0"/>
            <a:chExt cx="833120" cy="853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33120" cy="853440"/>
            </a:xfrm>
            <a:custGeom>
              <a:avLst/>
              <a:gdLst/>
              <a:ahLst/>
              <a:cxnLst/>
              <a:rect l="l" t="t" r="r" b="b"/>
              <a:pathLst>
                <a:path w="833120" h="853440">
                  <a:moveTo>
                    <a:pt x="792099" y="853440"/>
                  </a:moveTo>
                  <a:lnTo>
                    <a:pt x="41021" y="853440"/>
                  </a:lnTo>
                  <a:lnTo>
                    <a:pt x="35052" y="852297"/>
                  </a:lnTo>
                  <a:lnTo>
                    <a:pt x="0" y="812419"/>
                  </a:lnTo>
                  <a:lnTo>
                    <a:pt x="0" y="806196"/>
                  </a:lnTo>
                  <a:lnTo>
                    <a:pt x="0" y="41021"/>
                  </a:lnTo>
                  <a:lnTo>
                    <a:pt x="41021" y="0"/>
                  </a:lnTo>
                  <a:lnTo>
                    <a:pt x="792099" y="0"/>
                  </a:lnTo>
                  <a:lnTo>
                    <a:pt x="833120" y="41021"/>
                  </a:lnTo>
                  <a:lnTo>
                    <a:pt x="833120" y="812419"/>
                  </a:lnTo>
                  <a:lnTo>
                    <a:pt x="798195" y="852170"/>
                  </a:lnTo>
                  <a:lnTo>
                    <a:pt x="792226" y="853313"/>
                  </a:lnTo>
                  <a:close/>
                </a:path>
              </a:pathLst>
            </a:custGeom>
            <a:solidFill>
              <a:srgbClr val="484A50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222087" y="2989612"/>
            <a:ext cx="7079485" cy="1461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Master the syntax</a:t>
            </a:r>
            <a:endParaRPr lang="en-US" sz="2800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480"/>
              </a:lnSpc>
            </a:pPr>
            <a:r>
              <a:rPr lang="en-US" sz="2240" spc="-32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Understanding return types, parameters, and function bodies is essential for writing effective, bug-free C code.</a:t>
            </a:r>
            <a:endParaRPr lang="en-US" sz="2240" spc="-32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990590" y="5547379"/>
            <a:ext cx="640080" cy="640080"/>
            <a:chOff x="0" y="0"/>
            <a:chExt cx="853440" cy="8534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812419" y="853440"/>
                  </a:moveTo>
                  <a:lnTo>
                    <a:pt x="41021" y="853440"/>
                  </a:lnTo>
                  <a:lnTo>
                    <a:pt x="35052" y="852297"/>
                  </a:lnTo>
                  <a:lnTo>
                    <a:pt x="0" y="812419"/>
                  </a:lnTo>
                  <a:lnTo>
                    <a:pt x="0" y="806196"/>
                  </a:lnTo>
                  <a:lnTo>
                    <a:pt x="0" y="41021"/>
                  </a:lnTo>
                  <a:lnTo>
                    <a:pt x="41021" y="0"/>
                  </a:lnTo>
                  <a:lnTo>
                    <a:pt x="812419" y="0"/>
                  </a:lnTo>
                  <a:lnTo>
                    <a:pt x="853440" y="41021"/>
                  </a:lnTo>
                  <a:lnTo>
                    <a:pt x="853440" y="812419"/>
                  </a:lnTo>
                  <a:lnTo>
                    <a:pt x="818515" y="852170"/>
                  </a:lnTo>
                  <a:lnTo>
                    <a:pt x="812546" y="853313"/>
                  </a:lnTo>
                  <a:close/>
                </a:path>
              </a:pathLst>
            </a:custGeom>
            <a:solidFill>
              <a:srgbClr val="484A50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893246" y="5626113"/>
            <a:ext cx="6910835" cy="191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80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Reusability is power</a:t>
            </a:r>
            <a:endParaRPr lang="en-US" sz="2800" spc="80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540"/>
              </a:lnSpc>
            </a:pPr>
            <a:r>
              <a:rPr lang="en-US" sz="2240" spc="-32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Write once, use everywhere. Functions eliminate code duplication, reduce errors, and accelerate development time.</a:t>
            </a:r>
            <a:endParaRPr lang="en-US" sz="2240" spc="-32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9326756" y="5547408"/>
            <a:ext cx="624840" cy="640080"/>
            <a:chOff x="0" y="0"/>
            <a:chExt cx="833120" cy="853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33120" cy="853440"/>
            </a:xfrm>
            <a:custGeom>
              <a:avLst/>
              <a:gdLst/>
              <a:ahLst/>
              <a:cxnLst/>
              <a:rect l="l" t="t" r="r" b="b"/>
              <a:pathLst>
                <a:path w="833120" h="853440">
                  <a:moveTo>
                    <a:pt x="792099" y="853440"/>
                  </a:moveTo>
                  <a:lnTo>
                    <a:pt x="41021" y="853440"/>
                  </a:lnTo>
                  <a:lnTo>
                    <a:pt x="35052" y="852297"/>
                  </a:lnTo>
                  <a:lnTo>
                    <a:pt x="0" y="812419"/>
                  </a:lnTo>
                  <a:lnTo>
                    <a:pt x="0" y="806196"/>
                  </a:lnTo>
                  <a:lnTo>
                    <a:pt x="0" y="41021"/>
                  </a:lnTo>
                  <a:lnTo>
                    <a:pt x="41021" y="0"/>
                  </a:lnTo>
                  <a:lnTo>
                    <a:pt x="792099" y="0"/>
                  </a:lnTo>
                  <a:lnTo>
                    <a:pt x="833120" y="41021"/>
                  </a:lnTo>
                  <a:lnTo>
                    <a:pt x="833120" y="812419"/>
                  </a:lnTo>
                  <a:lnTo>
                    <a:pt x="798195" y="852170"/>
                  </a:lnTo>
                  <a:lnTo>
                    <a:pt x="792226" y="853313"/>
                  </a:lnTo>
                  <a:close/>
                </a:path>
              </a:pathLst>
            </a:custGeom>
            <a:solidFill>
              <a:srgbClr val="484A50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0222020" y="5626141"/>
            <a:ext cx="6693408" cy="191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56">
                <a:solidFill>
                  <a:srgbClr val="D4D4D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Build on library functions</a:t>
            </a:r>
            <a:endParaRPr lang="en-US" sz="2800" spc="56">
              <a:solidFill>
                <a:srgbClr val="D4D4D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algn="l">
              <a:lnSpc>
                <a:spcPts val="3540"/>
              </a:lnSpc>
            </a:pPr>
            <a:r>
              <a:rPr lang="en-US" sz="2240" spc="-32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Leverage C's standard libraries before reinventing the wheel. They're thoroughly tested, optimized, and production-ready.</a:t>
            </a:r>
            <a:endParaRPr lang="en-US" sz="2240" spc="-32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71931" y="7741472"/>
            <a:ext cx="16157448" cy="103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40" spc="-40">
                <a:solidFill>
                  <a:srgbClr val="D4D4D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Functions are the foundation of structured programming in C. Practice writing your own functions regularly to build cleaner, more maintainable, and professional-quality code.</a:t>
            </a:r>
            <a:endParaRPr lang="en-US" sz="2240" spc="-40">
              <a:solidFill>
                <a:srgbClr val="D4D4D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18" name="Group 18"/>
          <p:cNvGrpSpPr/>
          <p:nvPr/>
        </p:nvGrpSpPr>
        <p:grpSpPr>
          <a:xfrm rot="0">
            <a:off x="15328173" y="9481699"/>
            <a:ext cx="2807179" cy="670550"/>
            <a:chOff x="0" y="0"/>
            <a:chExt cx="3742906" cy="89406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742944" cy="894080"/>
            </a:xfrm>
            <a:custGeom>
              <a:avLst/>
              <a:gdLst/>
              <a:ahLst/>
              <a:cxnLst/>
              <a:rect l="l" t="t" r="r" b="b"/>
              <a:pathLst>
                <a:path w="3742944" h="894080">
                  <a:moveTo>
                    <a:pt x="0" y="0"/>
                  </a:moveTo>
                  <a:lnTo>
                    <a:pt x="3742944" y="0"/>
                  </a:lnTo>
                  <a:lnTo>
                    <a:pt x="3742944" y="894080"/>
                  </a:lnTo>
                  <a:lnTo>
                    <a:pt x="0" y="894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1" b="1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15341594" y="9532515"/>
            <a:ext cx="2824477" cy="650243"/>
            <a:chOff x="0" y="0"/>
            <a:chExt cx="3765969" cy="866991"/>
          </a:xfrm>
        </p:grpSpPr>
        <p:sp>
          <p:nvSpPr>
            <p:cNvPr id="21" name="Freeform 21"/>
            <p:cNvSpPr/>
            <p:nvPr/>
          </p:nvSpPr>
          <p:spPr>
            <a:xfrm>
              <a:off x="-127" y="0"/>
              <a:ext cx="3766058" cy="866902"/>
            </a:xfrm>
            <a:custGeom>
              <a:avLst/>
              <a:gdLst/>
              <a:ahLst/>
              <a:cxnLst/>
              <a:rect l="l" t="t" r="r" b="b"/>
              <a:pathLst>
                <a:path w="3766058" h="866902">
                  <a:moveTo>
                    <a:pt x="3766058" y="0"/>
                  </a:moveTo>
                  <a:lnTo>
                    <a:pt x="0" y="0"/>
                  </a:lnTo>
                  <a:lnTo>
                    <a:pt x="0" y="866902"/>
                  </a:lnTo>
                  <a:lnTo>
                    <a:pt x="3766058" y="866902"/>
                  </a:lnTo>
                  <a:lnTo>
                    <a:pt x="3766058" y="0"/>
                  </a:lnTo>
                  <a:close/>
                </a:path>
              </a:pathLst>
            </a:custGeom>
            <a:solidFill>
              <a:srgbClr val="282B31"/>
            </a:solid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C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90085" y="3476625"/>
            <a:ext cx="9792970" cy="3000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400"/>
              </a:lnSpc>
              <a:spcBef>
                <a:spcPct val="0"/>
              </a:spcBef>
            </a:pPr>
            <a:r>
              <a:rPr lang="en-US" sz="15000" spc="-120">
                <a:solidFill>
                  <a:srgbClr val="FFFFFF"/>
                </a:solidFill>
                <a:latin typeface="Abril Fatface" panose="02000503000000020003"/>
                <a:ea typeface="Abril Fatface" panose="02000503000000020003"/>
                <a:cs typeface="Abril Fatface" panose="02000503000000020003"/>
                <a:sym typeface="Abril Fatface" panose="02000503000000020003"/>
              </a:rPr>
              <a:t>Thank You</a:t>
            </a:r>
            <a:endParaRPr lang="en-US" sz="15000" spc="-120">
              <a:solidFill>
                <a:srgbClr val="FFFFFF"/>
              </a:solidFill>
              <a:latin typeface="Abril Fatface" panose="02000503000000020003"/>
              <a:ea typeface="Abril Fatface" panose="02000503000000020003"/>
              <a:cs typeface="Abril Fatface" panose="02000503000000020003"/>
              <a:sym typeface="Abril Fatface" panose="020005030000000200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6295</Words>
  <Application>WPS Presentation</Application>
  <PresentationFormat>On-screen Show (4:3)</PresentationFormat>
  <Paragraphs>145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Tahoma</vt:lpstr>
      <vt:lpstr>Roboto</vt:lpstr>
      <vt:lpstr>Codec Pro</vt:lpstr>
      <vt:lpstr>Segoe Print</vt:lpstr>
      <vt:lpstr>Arial</vt:lpstr>
      <vt:lpstr>Ebrima</vt:lpstr>
      <vt:lpstr>Courier New</vt:lpstr>
      <vt:lpstr>Tomorrow</vt:lpstr>
      <vt:lpstr>Abril Fatface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Reusability And Modularity</dc:title>
  <dc:creator/>
  <cp:lastModifiedBy>Kamran Takey</cp:lastModifiedBy>
  <cp:revision>8</cp:revision>
  <dcterms:created xsi:type="dcterms:W3CDTF">2006-08-16T00:00:00Z</dcterms:created>
  <dcterms:modified xsi:type="dcterms:W3CDTF">2026-03-05T20:05:00Z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FF675B1BD45042D1817908D05ADAAEAB_13</vt:lpwstr>
  </property>
  <property fmtid="{D5CDD505-2E9C-101B-9397-08002B2CF9AE}" pid="3" name="KSOProductBuildVer">
    <vt:lpwstr>1033-12.2.0.23196</vt:lpwstr>
  </property>
</Properties>
</file>